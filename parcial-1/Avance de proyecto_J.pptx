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 1 Bold" charset="1" panose="020B0802030000000004"/>
      <p:regular r:id="rId14"/>
    </p:embeddedFont>
    <p:embeddedFont>
      <p:font typeface="Inter 1" charset="1" panose="020B0502030000000004"/>
      <p:regular r:id="rId15"/>
    </p:embeddedFon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  <p:embeddedFont>
      <p:font typeface="Arimo Bold" charset="1" panose="020B0704020202020204"/>
      <p:regular r:id="rId18"/>
    </p:embeddedFont>
    <p:embeddedFont>
      <p:font typeface="Ahkio Bold" charset="1" panose="00000000000000000000"/>
      <p:regular r:id="rId19"/>
    </p:embeddedFont>
    <p:embeddedFont>
      <p:font typeface="Milk Tea Font TH Bold" charset="1" panose="02000503000000000000"/>
      <p:regular r:id="rId20"/>
    </p:embeddedFont>
    <p:embeddedFont>
      <p:font typeface="Inter 2" charset="1" panose="02000503000000020004"/>
      <p:regular r:id="rId21"/>
    </p:embeddedFont>
    <p:embeddedFont>
      <p:font typeface="Montaser Arabic Bold" charset="1" panose="00000800000000000000"/>
      <p:regular r:id="rId22"/>
    </p:embeddedFont>
    <p:embeddedFont>
      <p:font typeface="Eastman Grotesque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13" Target="../media/image39.png" Type="http://schemas.openxmlformats.org/officeDocument/2006/relationships/image"/><Relationship Id="rId14" Target="../media/image40.png" Type="http://schemas.openxmlformats.org/officeDocument/2006/relationships/image"/><Relationship Id="rId15" Target="../media/image41.png" Type="http://schemas.openxmlformats.org/officeDocument/2006/relationships/image"/><Relationship Id="rId16" Target="../media/image42.png" Type="http://schemas.openxmlformats.org/officeDocument/2006/relationships/image"/><Relationship Id="rId17" Target="../media/image43.png" Type="http://schemas.openxmlformats.org/officeDocument/2006/relationships/image"/><Relationship Id="rId18" Target="../media/image44.png" Type="http://schemas.openxmlformats.org/officeDocument/2006/relationships/image"/><Relationship Id="rId19" Target="../media/image45.png" Type="http://schemas.openxmlformats.org/officeDocument/2006/relationships/image"/><Relationship Id="rId2" Target="../media/image28.png" Type="http://schemas.openxmlformats.org/officeDocument/2006/relationships/image"/><Relationship Id="rId20" Target="../media/image46.png" Type="http://schemas.openxmlformats.org/officeDocument/2006/relationships/image"/><Relationship Id="rId21" Target="../media/image47.png" Type="http://schemas.openxmlformats.org/officeDocument/2006/relationships/image"/><Relationship Id="rId22" Target="../media/image48.png" Type="http://schemas.openxmlformats.org/officeDocument/2006/relationships/image"/><Relationship Id="rId23" Target="../media/image49.png" Type="http://schemas.openxmlformats.org/officeDocument/2006/relationships/image"/><Relationship Id="rId24" Target="../media/image50.png" Type="http://schemas.openxmlformats.org/officeDocument/2006/relationships/image"/><Relationship Id="rId25" Target="../media/image51.png" Type="http://schemas.openxmlformats.org/officeDocument/2006/relationships/image"/><Relationship Id="rId26" Target="../media/image52.png" Type="http://schemas.openxmlformats.org/officeDocument/2006/relationships/image"/><Relationship Id="rId27" Target="../media/image53.png" Type="http://schemas.openxmlformats.org/officeDocument/2006/relationships/image"/><Relationship Id="rId28" Target="../media/image54.png" Type="http://schemas.openxmlformats.org/officeDocument/2006/relationships/image"/><Relationship Id="rId29" Target="../media/image55.png" Type="http://schemas.openxmlformats.org/officeDocument/2006/relationships/image"/><Relationship Id="rId3" Target="../media/image29.png" Type="http://schemas.openxmlformats.org/officeDocument/2006/relationships/image"/><Relationship Id="rId30" Target="../media/image56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362450" cy="3000375"/>
          </a:xfrm>
          <a:custGeom>
            <a:avLst/>
            <a:gdLst/>
            <a:ahLst/>
            <a:cxnLst/>
            <a:rect r="r" b="b" t="t" l="l"/>
            <a:pathLst>
              <a:path h="3000375" w="4362450">
                <a:moveTo>
                  <a:pt x="0" y="0"/>
                </a:moveTo>
                <a:lnTo>
                  <a:pt x="4362450" y="0"/>
                </a:lnTo>
                <a:lnTo>
                  <a:pt x="43624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10775" y="1714500"/>
            <a:ext cx="7410450" cy="5143500"/>
          </a:xfrm>
          <a:custGeom>
            <a:avLst/>
            <a:gdLst/>
            <a:ahLst/>
            <a:cxnLst/>
            <a:rect r="r" b="b" t="t" l="l"/>
            <a:pathLst>
              <a:path h="5143500" w="7410450">
                <a:moveTo>
                  <a:pt x="0" y="0"/>
                </a:moveTo>
                <a:lnTo>
                  <a:pt x="7410450" y="0"/>
                </a:lnTo>
                <a:lnTo>
                  <a:pt x="741045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24625" y="3429000"/>
            <a:ext cx="11763375" cy="6858000"/>
          </a:xfrm>
          <a:custGeom>
            <a:avLst/>
            <a:gdLst/>
            <a:ahLst/>
            <a:cxnLst/>
            <a:rect r="r" b="b" t="t" l="l"/>
            <a:pathLst>
              <a:path h="6858000" w="11763375">
                <a:moveTo>
                  <a:pt x="0" y="0"/>
                </a:moveTo>
                <a:lnTo>
                  <a:pt x="11763375" y="0"/>
                </a:lnTo>
                <a:lnTo>
                  <a:pt x="117633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49550" y="209550"/>
            <a:ext cx="1314450" cy="438150"/>
          </a:xfrm>
          <a:custGeom>
            <a:avLst/>
            <a:gdLst/>
            <a:ahLst/>
            <a:cxnLst/>
            <a:rect r="r" b="b" t="t" l="l"/>
            <a:pathLst>
              <a:path h="438150" w="13144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49550" y="63817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64000" y="4286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4128" y="1692576"/>
            <a:ext cx="11265408" cy="126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6"/>
              </a:lnSpc>
            </a:pPr>
            <a:r>
              <a:rPr lang="en-US" sz="9496" spc="-284" b="true">
                <a:solidFill>
                  <a:srgbClr val="001139"/>
                </a:solidFill>
                <a:latin typeface="Inter 1 Bold"/>
                <a:ea typeface="Inter 1 Bold"/>
                <a:cs typeface="Inter 1 Bold"/>
                <a:sym typeface="Inter 1 Bold"/>
              </a:rPr>
              <a:t>Avance de proyecto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6775" y="3000375"/>
            <a:ext cx="9591675" cy="1285875"/>
          </a:xfrm>
          <a:custGeom>
            <a:avLst/>
            <a:gdLst/>
            <a:ahLst/>
            <a:cxnLst/>
            <a:rect r="r" b="b" t="t" l="l"/>
            <a:pathLst>
              <a:path h="1285875" w="9591675">
                <a:moveTo>
                  <a:pt x="0" y="0"/>
                </a:moveTo>
                <a:lnTo>
                  <a:pt x="9591675" y="0"/>
                </a:lnTo>
                <a:lnTo>
                  <a:pt x="9591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16736" y="3281017"/>
            <a:ext cx="8705088" cy="835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7"/>
              </a:lnSpc>
            </a:pPr>
            <a:r>
              <a:rPr lang="en-US" sz="6267" spc="-188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Estrategias Industriales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952625" y="4495800"/>
            <a:ext cx="6762750" cy="219075"/>
          </a:xfrm>
          <a:custGeom>
            <a:avLst/>
            <a:gdLst/>
            <a:ahLst/>
            <a:cxnLst/>
            <a:rect r="r" b="b" t="t" l="l"/>
            <a:pathLst>
              <a:path h="219075" w="6762750">
                <a:moveTo>
                  <a:pt x="0" y="0"/>
                </a:moveTo>
                <a:lnTo>
                  <a:pt x="6762750" y="0"/>
                </a:lnTo>
                <a:lnTo>
                  <a:pt x="6762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19700" y="428625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6775" y="4924425"/>
            <a:ext cx="9153525" cy="866775"/>
          </a:xfrm>
          <a:custGeom>
            <a:avLst/>
            <a:gdLst/>
            <a:ahLst/>
            <a:cxnLst/>
            <a:rect r="r" b="b" t="t" l="l"/>
            <a:pathLst>
              <a:path h="866775" w="9153525">
                <a:moveTo>
                  <a:pt x="0" y="0"/>
                </a:moveTo>
                <a:lnTo>
                  <a:pt x="9153525" y="0"/>
                </a:lnTo>
                <a:lnTo>
                  <a:pt x="9153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5850" y="492442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48256" y="5207216"/>
            <a:ext cx="7534656" cy="41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3142" b="true">
                <a:solidFill>
                  <a:srgbClr val="001139"/>
                </a:solidFill>
                <a:latin typeface="Inter 1 Bold"/>
                <a:ea typeface="Inter 1 Bold"/>
                <a:cs typeface="Inter 1 Bold"/>
                <a:sym typeface="Inter 1 Bold"/>
              </a:rPr>
              <a:t>Distribuidora de Materiales 4 Caminos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85850" y="600075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5850" y="685800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85850" y="771525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39312" y="8021782"/>
            <a:ext cx="3273552" cy="34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2533">
                <a:solidFill>
                  <a:srgbClr val="001139"/>
                </a:solidFill>
                <a:latin typeface="Inter 1"/>
                <a:ea typeface="Inter 1"/>
                <a:cs typeface="Inter 1"/>
                <a:sym typeface="Inter 1"/>
              </a:rPr>
              <a:t>Dr. J. Luis Hernández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85850" y="8572500"/>
            <a:ext cx="657225" cy="857250"/>
          </a:xfrm>
          <a:custGeom>
            <a:avLst/>
            <a:gdLst/>
            <a:ahLst/>
            <a:cxnLst/>
            <a:rect r="r" b="b" t="t" l="l"/>
            <a:pathLst>
              <a:path h="857250" w="657225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11680" y="8884104"/>
            <a:ext cx="1115568" cy="35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674" b="true">
                <a:solidFill>
                  <a:srgbClr val="001139"/>
                </a:solidFill>
                <a:latin typeface="Inter 1 Bold"/>
                <a:ea typeface="Inter 1 Bold"/>
                <a:cs typeface="Inter 1 Bold"/>
                <a:sym typeface="Inter 1 Bold"/>
              </a:rPr>
              <a:t>Fecha: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0" y="8353425"/>
            <a:ext cx="876300" cy="1933575"/>
          </a:xfrm>
          <a:custGeom>
            <a:avLst/>
            <a:gdLst/>
            <a:ahLst/>
            <a:cxnLst/>
            <a:rect r="r" b="b" t="t" l="l"/>
            <a:pathLst>
              <a:path h="1933575" w="876300">
                <a:moveTo>
                  <a:pt x="0" y="0"/>
                </a:moveTo>
                <a:lnTo>
                  <a:pt x="876300" y="0"/>
                </a:lnTo>
                <a:lnTo>
                  <a:pt x="8763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443200" y="8143875"/>
            <a:ext cx="2844800" cy="1714500"/>
          </a:xfrm>
          <a:custGeom>
            <a:avLst/>
            <a:gdLst/>
            <a:ahLst/>
            <a:cxnLst/>
            <a:rect r="r" b="b" t="t" l="l"/>
            <a:pathLst>
              <a:path h="1714500" w="2844800">
                <a:moveTo>
                  <a:pt x="0" y="0"/>
                </a:moveTo>
                <a:lnTo>
                  <a:pt x="2844800" y="0"/>
                </a:lnTo>
                <a:lnTo>
                  <a:pt x="28448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48256" y="6374076"/>
            <a:ext cx="1444752" cy="35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674" b="true">
                <a:solidFill>
                  <a:srgbClr val="001139"/>
                </a:solidFill>
                <a:latin typeface="Inter 1 Bold"/>
                <a:ea typeface="Inter 1 Bold"/>
                <a:cs typeface="Inter 1 Bold"/>
                <a:sym typeface="Inter 1 Bold"/>
              </a:rPr>
              <a:t>Nombre: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93008" y="6379732"/>
            <a:ext cx="4261104" cy="34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2603">
                <a:solidFill>
                  <a:srgbClr val="001139"/>
                </a:solidFill>
                <a:latin typeface="Inter 1"/>
                <a:ea typeface="Inter 1"/>
                <a:cs typeface="Inter 1"/>
                <a:sym typeface="Inter 1"/>
              </a:rPr>
              <a:t>Jesús Manuel Ruiz Fuentes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11680" y="7202692"/>
            <a:ext cx="1353312" cy="34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2603" b="true">
                <a:solidFill>
                  <a:srgbClr val="001139"/>
                </a:solidFill>
                <a:latin typeface="Inter 1 Bold"/>
                <a:ea typeface="Inter 1 Bold"/>
                <a:cs typeface="Inter 1 Bold"/>
                <a:sym typeface="Inter 1 Bold"/>
              </a:rPr>
              <a:t>Materia: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93008" y="7197483"/>
            <a:ext cx="3749040" cy="35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639">
                <a:solidFill>
                  <a:srgbClr val="001139"/>
                </a:solidFill>
                <a:latin typeface="Inter 1"/>
                <a:ea typeface="Inter 1"/>
                <a:cs typeface="Inter 1"/>
                <a:sym typeface="Inter 1"/>
              </a:rPr>
              <a:t>Estrategias Industriales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11680" y="8021782"/>
            <a:ext cx="1481328" cy="34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2533" b="true">
                <a:solidFill>
                  <a:srgbClr val="001139"/>
                </a:solidFill>
                <a:latin typeface="Inter 1 Bold"/>
                <a:ea typeface="Inter 1 Bold"/>
                <a:cs typeface="Inter 1 Bold"/>
                <a:sym typeface="Inter 1 Bold"/>
              </a:rPr>
              <a:t>Profesor: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327273" y="8885890"/>
            <a:ext cx="4059604" cy="34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2533">
                <a:solidFill>
                  <a:srgbClr val="001139"/>
                </a:solidFill>
                <a:latin typeface="Inter 1"/>
                <a:ea typeface="Inter 1"/>
                <a:cs typeface="Inter 1"/>
                <a:sym typeface="Inter 1"/>
              </a:rPr>
              <a:t>22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23950" y="666750"/>
            <a:ext cx="83820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E47707"/>
                </a:solidFill>
                <a:latin typeface="Roboto Bold"/>
                <a:ea typeface="Roboto Bold"/>
                <a:cs typeface="Roboto Bold"/>
                <a:sym typeface="Roboto Bold"/>
              </a:rPr>
              <a:t>2.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38350" y="495300"/>
            <a:ext cx="15125700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Presentación de la empresa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23950" y="1676400"/>
            <a:ext cx="16040100" cy="47625"/>
            <a:chOff x="0" y="0"/>
            <a:chExt cx="21386800" cy="6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86800" cy="63500"/>
            </a:xfrm>
            <a:custGeom>
              <a:avLst/>
              <a:gdLst/>
              <a:ahLst/>
              <a:cxnLst/>
              <a:rect r="r" b="b" t="t" l="l"/>
              <a:pathLst>
                <a:path h="63500" w="21386800">
                  <a:moveTo>
                    <a:pt x="0" y="0"/>
                  </a:moveTo>
                  <a:lnTo>
                    <a:pt x="21386800" y="0"/>
                  </a:lnTo>
                  <a:lnTo>
                    <a:pt x="213868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3868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23950" y="2209800"/>
            <a:ext cx="7858125" cy="6953250"/>
            <a:chOff x="0" y="0"/>
            <a:chExt cx="10477500" cy="927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77500" cy="9271000"/>
            </a:xfrm>
            <a:custGeom>
              <a:avLst/>
              <a:gdLst/>
              <a:ahLst/>
              <a:cxnLst/>
              <a:rect r="r" b="b" t="t" l="l"/>
              <a:pathLst>
                <a:path h="9271000" w="10477500">
                  <a:moveTo>
                    <a:pt x="228600" y="0"/>
                  </a:moveTo>
                  <a:lnTo>
                    <a:pt x="10248900" y="0"/>
                  </a:lnTo>
                  <a:cubicBezTo>
                    <a:pt x="10375152" y="0"/>
                    <a:pt x="10477500" y="102348"/>
                    <a:pt x="10477500" y="228600"/>
                  </a:cubicBezTo>
                  <a:lnTo>
                    <a:pt x="10477500" y="9042400"/>
                  </a:lnTo>
                  <a:cubicBezTo>
                    <a:pt x="10477500" y="9168652"/>
                    <a:pt x="10375152" y="9271000"/>
                    <a:pt x="10248900" y="9271000"/>
                  </a:cubicBezTo>
                  <a:lnTo>
                    <a:pt x="228600" y="9271000"/>
                  </a:lnTo>
                  <a:cubicBezTo>
                    <a:pt x="102348" y="9271000"/>
                    <a:pt x="0" y="9168652"/>
                    <a:pt x="0" y="9042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477500" cy="930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3950" y="2209800"/>
            <a:ext cx="7858125" cy="152400"/>
            <a:chOff x="0" y="0"/>
            <a:chExt cx="10477500" cy="20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77500" cy="203200"/>
            </a:xfrm>
            <a:custGeom>
              <a:avLst/>
              <a:gdLst/>
              <a:ahLst/>
              <a:cxnLst/>
              <a:rect r="r" b="b" t="t" l="l"/>
              <a:pathLst>
                <a:path h="203200" w="10477500">
                  <a:moveTo>
                    <a:pt x="101600" y="0"/>
                  </a:moveTo>
                  <a:lnTo>
                    <a:pt x="10375900" y="0"/>
                  </a:lnTo>
                  <a:cubicBezTo>
                    <a:pt x="10432012" y="0"/>
                    <a:pt x="10477500" y="45488"/>
                    <a:pt x="10477500" y="101600"/>
                  </a:cubicBezTo>
                  <a:cubicBezTo>
                    <a:pt x="10477500" y="157712"/>
                    <a:pt x="10432012" y="203200"/>
                    <a:pt x="10375900" y="203200"/>
                  </a:cubicBezTo>
                  <a:lnTo>
                    <a:pt x="101600" y="203200"/>
                  </a:ln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00305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4775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05925" y="2209800"/>
            <a:ext cx="7858125" cy="6953250"/>
            <a:chOff x="0" y="0"/>
            <a:chExt cx="10477500" cy="927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77500" cy="9271000"/>
            </a:xfrm>
            <a:custGeom>
              <a:avLst/>
              <a:gdLst/>
              <a:ahLst/>
              <a:cxnLst/>
              <a:rect r="r" b="b" t="t" l="l"/>
              <a:pathLst>
                <a:path h="9271000" w="10477500">
                  <a:moveTo>
                    <a:pt x="228600" y="0"/>
                  </a:moveTo>
                  <a:lnTo>
                    <a:pt x="10248900" y="0"/>
                  </a:lnTo>
                  <a:cubicBezTo>
                    <a:pt x="10375152" y="0"/>
                    <a:pt x="10477500" y="102348"/>
                    <a:pt x="10477500" y="228600"/>
                  </a:cubicBezTo>
                  <a:lnTo>
                    <a:pt x="10477500" y="9042400"/>
                  </a:lnTo>
                  <a:cubicBezTo>
                    <a:pt x="10477500" y="9168652"/>
                    <a:pt x="10375152" y="9271000"/>
                    <a:pt x="10248900" y="9271000"/>
                  </a:cubicBezTo>
                  <a:lnTo>
                    <a:pt x="228600" y="9271000"/>
                  </a:lnTo>
                  <a:cubicBezTo>
                    <a:pt x="102348" y="9271000"/>
                    <a:pt x="0" y="9168652"/>
                    <a:pt x="0" y="9042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477500" cy="930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05925" y="2209800"/>
            <a:ext cx="7858125" cy="152400"/>
            <a:chOff x="0" y="0"/>
            <a:chExt cx="10477500" cy="20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77500" cy="203200"/>
            </a:xfrm>
            <a:custGeom>
              <a:avLst/>
              <a:gdLst/>
              <a:ahLst/>
              <a:cxnLst/>
              <a:rect r="r" b="b" t="t" l="l"/>
              <a:pathLst>
                <a:path h="203200" w="10477500">
                  <a:moveTo>
                    <a:pt x="101600" y="0"/>
                  </a:moveTo>
                  <a:lnTo>
                    <a:pt x="10375900" y="0"/>
                  </a:lnTo>
                  <a:cubicBezTo>
                    <a:pt x="10432012" y="0"/>
                    <a:pt x="10477500" y="45488"/>
                    <a:pt x="10477500" y="101600"/>
                  </a:cubicBezTo>
                  <a:cubicBezTo>
                    <a:pt x="10477500" y="157712"/>
                    <a:pt x="10432012" y="203200"/>
                    <a:pt x="10375900" y="203200"/>
                  </a:cubicBezTo>
                  <a:lnTo>
                    <a:pt x="101600" y="203200"/>
                  </a:ln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4775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543050" y="2530474"/>
            <a:ext cx="7058025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415" b="true">
                <a:solidFill>
                  <a:srgbClr val="E47707"/>
                </a:solidFill>
                <a:latin typeface="Roboto Bold"/>
                <a:ea typeface="Roboto Bold"/>
                <a:cs typeface="Roboto Bold"/>
                <a:sym typeface="Roboto Bold"/>
              </a:rPr>
              <a:t>EMPRESA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4000" y="2872740"/>
            <a:ext cx="7058025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700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Distribuidora de Materiales 4 Caminos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4000" y="3402330"/>
            <a:ext cx="705802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299" b="true">
                <a:solidFill>
                  <a:srgbClr val="E47707"/>
                </a:solidFill>
                <a:latin typeface="Roboto Bold"/>
                <a:ea typeface="Roboto Bold"/>
                <a:cs typeface="Roboto Bold"/>
                <a:sym typeface="Roboto Bold"/>
              </a:rPr>
              <a:t>DESCRIPCIÓN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4475" y="3815080"/>
            <a:ext cx="7058025" cy="120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600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Empresa dedicada a la comercialización de materiales y equipo para el sector de la construcción.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3050" y="5055235"/>
            <a:ext cx="705802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Giro: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33525" y="5510530"/>
            <a:ext cx="7058025" cy="80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600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Comercialización de materiales para construcción y maquinaria pesada.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3050" y="6485001"/>
            <a:ext cx="705802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Clientes: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43050" y="6866001"/>
            <a:ext cx="7058025" cy="80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600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Constructoras, contratistas, trabajadores de la construcción y clientes particulares.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14475" y="8237601"/>
            <a:ext cx="7058025" cy="40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600" b="true">
                <a:solidFill>
                  <a:srgbClr val="17212B"/>
                </a:solidFill>
                <a:latin typeface="Roboto Bold"/>
                <a:ea typeface="Roboto Bold"/>
                <a:cs typeface="Roboto Bold"/>
                <a:sym typeface="Roboto Bold"/>
              </a:rPr>
              <a:t>Ubicación:  Tepeaca, Puebla.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34550" y="2509672"/>
            <a:ext cx="7058025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311" b="true">
                <a:solidFill>
                  <a:srgbClr val="E47707"/>
                </a:solidFill>
                <a:latin typeface="Roboto Bold"/>
                <a:ea typeface="Roboto Bold"/>
                <a:cs typeface="Roboto Bold"/>
                <a:sym typeface="Roboto Bold"/>
              </a:rPr>
              <a:t>PRINCIPALES PRODUCTOS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05975" y="3007360"/>
            <a:ext cx="7058025" cy="300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• Maquinaria pesada: retroexcavadoras, bulldozers, entre otras.</a:t>
            </a:r>
          </a:p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• Cal hidratada.</a:t>
            </a:r>
          </a:p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• Varilla y alambrón.</a:t>
            </a:r>
          </a:p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• Cemento.</a:t>
            </a:r>
          </a:p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• Placas de mármol.</a:t>
            </a:r>
          </a:p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• Materiales refractarios.</a:t>
            </a:r>
          </a:p>
          <a:p>
            <a:pPr algn="l">
              <a:lnSpc>
                <a:spcPts val="2699"/>
              </a:lnSpc>
            </a:pPr>
            <a:r>
              <a:rPr lang="en-US" sz="2499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• Otros materiales de acuerdo con las necesidades del mercado.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705975" y="6191250"/>
            <a:ext cx="7058025" cy="19050"/>
            <a:chOff x="0" y="0"/>
            <a:chExt cx="9410700" cy="25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410700" cy="25400"/>
            </a:xfrm>
            <a:custGeom>
              <a:avLst/>
              <a:gdLst/>
              <a:ahLst/>
              <a:cxnLst/>
              <a:rect r="r" b="b" t="t" l="l"/>
              <a:pathLst>
                <a:path h="25400" w="9410700">
                  <a:moveTo>
                    <a:pt x="0" y="0"/>
                  </a:moveTo>
                  <a:lnTo>
                    <a:pt x="9410700" y="0"/>
                  </a:lnTo>
                  <a:lnTo>
                    <a:pt x="94107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8D3DC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4107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705975" y="6372225"/>
            <a:ext cx="705802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Antigüedad: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05975" y="6772275"/>
            <a:ext cx="7058025" cy="40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2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Aproximadamente 10 años.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05975" y="7416292"/>
            <a:ext cx="705802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Personal: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05975" y="7822946"/>
            <a:ext cx="7058025" cy="80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600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Aproximadamente 20 trabajadores, considerando personal directo e indirecto.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62050" y="2552700"/>
            <a:ext cx="361950" cy="438455"/>
            <a:chOff x="0" y="0"/>
            <a:chExt cx="482600" cy="58460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2600" cy="584607"/>
            </a:xfrm>
            <a:custGeom>
              <a:avLst/>
              <a:gdLst/>
              <a:ahLst/>
              <a:cxnLst/>
              <a:rect r="r" b="b" t="t" l="l"/>
              <a:pathLst>
                <a:path h="584607" w="482600">
                  <a:moveTo>
                    <a:pt x="0" y="292303"/>
                  </a:moveTo>
                  <a:cubicBezTo>
                    <a:pt x="0" y="453738"/>
                    <a:pt x="108034" y="584607"/>
                    <a:pt x="241300" y="584607"/>
                  </a:cubicBezTo>
                  <a:cubicBezTo>
                    <a:pt x="374566" y="584607"/>
                    <a:pt x="482600" y="453738"/>
                    <a:pt x="482600" y="292303"/>
                  </a:cubicBezTo>
                  <a:cubicBezTo>
                    <a:pt x="482600" y="130869"/>
                    <a:pt x="374566" y="0"/>
                    <a:pt x="241300" y="0"/>
                  </a:cubicBezTo>
                  <a:cubicBezTo>
                    <a:pt x="108034" y="0"/>
                    <a:pt x="0" y="130869"/>
                    <a:pt x="0" y="292303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482600" cy="641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44025" y="2552700"/>
            <a:ext cx="361950" cy="438455"/>
            <a:chOff x="0" y="0"/>
            <a:chExt cx="482600" cy="58460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2600" cy="584607"/>
            </a:xfrm>
            <a:custGeom>
              <a:avLst/>
              <a:gdLst/>
              <a:ahLst/>
              <a:cxnLst/>
              <a:rect r="r" b="b" t="t" l="l"/>
              <a:pathLst>
                <a:path h="584607" w="482600">
                  <a:moveTo>
                    <a:pt x="0" y="292303"/>
                  </a:moveTo>
                  <a:cubicBezTo>
                    <a:pt x="0" y="453738"/>
                    <a:pt x="108034" y="584607"/>
                    <a:pt x="241300" y="584607"/>
                  </a:cubicBezTo>
                  <a:cubicBezTo>
                    <a:pt x="374566" y="584607"/>
                    <a:pt x="482600" y="453738"/>
                    <a:pt x="482600" y="292303"/>
                  </a:cubicBezTo>
                  <a:cubicBezTo>
                    <a:pt x="482600" y="130869"/>
                    <a:pt x="374566" y="0"/>
                    <a:pt x="241300" y="0"/>
                  </a:cubicBezTo>
                  <a:cubicBezTo>
                    <a:pt x="108034" y="0"/>
                    <a:pt x="0" y="130869"/>
                    <a:pt x="0" y="292303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482600" cy="641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52525" y="5132451"/>
            <a:ext cx="361950" cy="438455"/>
            <a:chOff x="0" y="0"/>
            <a:chExt cx="482600" cy="58460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2600" cy="584607"/>
            </a:xfrm>
            <a:custGeom>
              <a:avLst/>
              <a:gdLst/>
              <a:ahLst/>
              <a:cxnLst/>
              <a:rect r="r" b="b" t="t" l="l"/>
              <a:pathLst>
                <a:path h="584607" w="482600">
                  <a:moveTo>
                    <a:pt x="0" y="292303"/>
                  </a:moveTo>
                  <a:cubicBezTo>
                    <a:pt x="0" y="453738"/>
                    <a:pt x="108034" y="584607"/>
                    <a:pt x="241300" y="584607"/>
                  </a:cubicBezTo>
                  <a:cubicBezTo>
                    <a:pt x="374566" y="584607"/>
                    <a:pt x="482600" y="453738"/>
                    <a:pt x="482600" y="292303"/>
                  </a:cubicBezTo>
                  <a:cubicBezTo>
                    <a:pt x="482600" y="130869"/>
                    <a:pt x="374566" y="0"/>
                    <a:pt x="241300" y="0"/>
                  </a:cubicBezTo>
                  <a:cubicBezTo>
                    <a:pt x="108034" y="0"/>
                    <a:pt x="0" y="130869"/>
                    <a:pt x="0" y="292303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482600" cy="641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62050" y="6381750"/>
            <a:ext cx="361950" cy="438455"/>
            <a:chOff x="0" y="0"/>
            <a:chExt cx="482600" cy="5846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2600" cy="584607"/>
            </a:xfrm>
            <a:custGeom>
              <a:avLst/>
              <a:gdLst/>
              <a:ahLst/>
              <a:cxnLst/>
              <a:rect r="r" b="b" t="t" l="l"/>
              <a:pathLst>
                <a:path h="584607" w="482600">
                  <a:moveTo>
                    <a:pt x="0" y="292303"/>
                  </a:moveTo>
                  <a:cubicBezTo>
                    <a:pt x="0" y="453738"/>
                    <a:pt x="108034" y="584607"/>
                    <a:pt x="241300" y="584607"/>
                  </a:cubicBezTo>
                  <a:cubicBezTo>
                    <a:pt x="374566" y="584607"/>
                    <a:pt x="482600" y="453738"/>
                    <a:pt x="482600" y="292303"/>
                  </a:cubicBezTo>
                  <a:cubicBezTo>
                    <a:pt x="482600" y="130869"/>
                    <a:pt x="374566" y="0"/>
                    <a:pt x="241300" y="0"/>
                  </a:cubicBezTo>
                  <a:cubicBezTo>
                    <a:pt x="108034" y="0"/>
                    <a:pt x="0" y="130869"/>
                    <a:pt x="0" y="292303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482600" cy="641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52525" y="6513576"/>
            <a:ext cx="361950" cy="438455"/>
            <a:chOff x="0" y="0"/>
            <a:chExt cx="482600" cy="58460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82600" cy="584607"/>
            </a:xfrm>
            <a:custGeom>
              <a:avLst/>
              <a:gdLst/>
              <a:ahLst/>
              <a:cxnLst/>
              <a:rect r="r" b="b" t="t" l="l"/>
              <a:pathLst>
                <a:path h="584607" w="482600">
                  <a:moveTo>
                    <a:pt x="0" y="292303"/>
                  </a:moveTo>
                  <a:cubicBezTo>
                    <a:pt x="0" y="453738"/>
                    <a:pt x="108034" y="584607"/>
                    <a:pt x="241300" y="584607"/>
                  </a:cubicBezTo>
                  <a:cubicBezTo>
                    <a:pt x="374566" y="584607"/>
                    <a:pt x="482600" y="453738"/>
                    <a:pt x="482600" y="292303"/>
                  </a:cubicBezTo>
                  <a:cubicBezTo>
                    <a:pt x="482600" y="130869"/>
                    <a:pt x="374566" y="0"/>
                    <a:pt x="241300" y="0"/>
                  </a:cubicBezTo>
                  <a:cubicBezTo>
                    <a:pt x="108034" y="0"/>
                    <a:pt x="0" y="130869"/>
                    <a:pt x="0" y="292303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482600" cy="641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3950" y="514350"/>
            <a:ext cx="1604010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3059"/>
                </a:solidFill>
                <a:latin typeface="Inter 1 Bold"/>
                <a:ea typeface="Inter 1 Bold"/>
                <a:cs typeface="Inter 1 Bold"/>
                <a:sym typeface="Inter 1 Bold"/>
              </a:rPr>
              <a:t>3. Análisis PESTEL de la industria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23950" y="1581150"/>
            <a:ext cx="16040100" cy="66675"/>
            <a:chOff x="0" y="0"/>
            <a:chExt cx="213868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386800" cy="88900"/>
            </a:xfrm>
            <a:custGeom>
              <a:avLst/>
              <a:gdLst/>
              <a:ahLst/>
              <a:cxnLst/>
              <a:rect r="r" b="b" t="t" l="l"/>
              <a:pathLst>
                <a:path h="88900" w="21386800">
                  <a:moveTo>
                    <a:pt x="0" y="0"/>
                  </a:moveTo>
                  <a:lnTo>
                    <a:pt x="21386800" y="0"/>
                  </a:lnTo>
                  <a:lnTo>
                    <a:pt x="213868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3868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23950" y="2095500"/>
            <a:ext cx="3429000" cy="647700"/>
            <a:chOff x="0" y="0"/>
            <a:chExt cx="4572000" cy="863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2000" cy="863600"/>
            </a:xfrm>
            <a:custGeom>
              <a:avLst/>
              <a:gdLst/>
              <a:ahLst/>
              <a:cxnLst/>
              <a:rect r="r" b="b" t="t" l="l"/>
              <a:pathLst>
                <a:path h="8636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47707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720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52950" y="2095500"/>
            <a:ext cx="12611100" cy="647700"/>
            <a:chOff x="0" y="0"/>
            <a:chExt cx="16814800" cy="863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14800" cy="863600"/>
            </a:xfrm>
            <a:custGeom>
              <a:avLst/>
              <a:gdLst/>
              <a:ahLst/>
              <a:cxnLst/>
              <a:rect r="r" b="b" t="t" l="l"/>
              <a:pathLst>
                <a:path h="863600" w="16814800">
                  <a:moveTo>
                    <a:pt x="0" y="0"/>
                  </a:moveTo>
                  <a:lnTo>
                    <a:pt x="16814800" y="0"/>
                  </a:lnTo>
                  <a:lnTo>
                    <a:pt x="168148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E47707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814800" cy="90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33500" y="2228850"/>
            <a:ext cx="30099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Factor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62500" y="2228850"/>
            <a:ext cx="121920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Impacto en la industria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23950" y="2743200"/>
            <a:ext cx="3429000" cy="1143000"/>
            <a:chOff x="0" y="0"/>
            <a:chExt cx="4572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7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57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52950" y="2743200"/>
            <a:ext cx="12611100" cy="1143000"/>
            <a:chOff x="0" y="0"/>
            <a:chExt cx="168148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814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6814800">
                  <a:moveTo>
                    <a:pt x="0" y="0"/>
                  </a:moveTo>
                  <a:lnTo>
                    <a:pt x="16814800" y="0"/>
                  </a:lnTo>
                  <a:lnTo>
                    <a:pt x="16814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8148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09750" y="3067050"/>
            <a:ext cx="23812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99" b="true">
                <a:solidFill>
                  <a:srgbClr val="003059"/>
                </a:solidFill>
                <a:latin typeface="Inter 1 Bold"/>
                <a:ea typeface="Inter 1 Bold"/>
                <a:cs typeface="Inter 1 Bold"/>
                <a:sym typeface="Inter 1 Bold"/>
              </a:rPr>
              <a:t>Político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62500" y="2971800"/>
            <a:ext cx="12192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7212B"/>
                </a:solidFill>
                <a:latin typeface="Inter 1"/>
                <a:ea typeface="Inter 1"/>
                <a:cs typeface="Inter 1"/>
                <a:sym typeface="Inter 1"/>
              </a:rPr>
              <a:t>La inversión pública en carreteras, infraestructura y obra urbana genera demanda de materiales y maquinaria.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23950" y="3886200"/>
            <a:ext cx="3429000" cy="1143000"/>
            <a:chOff x="0" y="0"/>
            <a:chExt cx="4572000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7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EAF1F6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57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552950" y="3886200"/>
            <a:ext cx="12611100" cy="1143000"/>
            <a:chOff x="0" y="0"/>
            <a:chExt cx="16814800" cy="152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814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6814800">
                  <a:moveTo>
                    <a:pt x="0" y="0"/>
                  </a:moveTo>
                  <a:lnTo>
                    <a:pt x="16814800" y="0"/>
                  </a:lnTo>
                  <a:lnTo>
                    <a:pt x="16814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EAF1F6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68148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809750" y="4210050"/>
            <a:ext cx="23812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99" b="true">
                <a:solidFill>
                  <a:srgbClr val="003059"/>
                </a:solidFill>
                <a:latin typeface="Inter 1 Bold"/>
                <a:ea typeface="Inter 1 Bold"/>
                <a:cs typeface="Inter 1 Bold"/>
                <a:sym typeface="Inter 1 Bold"/>
              </a:rPr>
              <a:t>Económico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762500" y="4114800"/>
            <a:ext cx="12192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7212B"/>
                </a:solidFill>
                <a:latin typeface="Inter 1"/>
                <a:ea typeface="Inter 1"/>
                <a:cs typeface="Inter 1"/>
                <a:sym typeface="Inter 1"/>
              </a:rPr>
              <a:t>La inflación, el precio del acero, cemento, combustibles y transporte pueden aumentar los costos y afectar los precios de venta.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23950" y="5029200"/>
            <a:ext cx="3429000" cy="1143000"/>
            <a:chOff x="0" y="0"/>
            <a:chExt cx="4572000" cy="1524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57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552950" y="5029200"/>
            <a:ext cx="12611100" cy="1143000"/>
            <a:chOff x="0" y="0"/>
            <a:chExt cx="16814800" cy="1524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814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6814800">
                  <a:moveTo>
                    <a:pt x="0" y="0"/>
                  </a:moveTo>
                  <a:lnTo>
                    <a:pt x="16814800" y="0"/>
                  </a:lnTo>
                  <a:lnTo>
                    <a:pt x="16814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68148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809750" y="5353050"/>
            <a:ext cx="23812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99" b="true">
                <a:solidFill>
                  <a:srgbClr val="003059"/>
                </a:solidFill>
                <a:latin typeface="Inter 1 Bold"/>
                <a:ea typeface="Inter 1 Bold"/>
                <a:cs typeface="Inter 1 Bold"/>
                <a:sym typeface="Inter 1 Bold"/>
              </a:rPr>
              <a:t>Social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762500" y="5257800"/>
            <a:ext cx="12192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7212B"/>
                </a:solidFill>
                <a:latin typeface="Inter 1"/>
                <a:ea typeface="Inter 1"/>
                <a:cs typeface="Inter 1"/>
                <a:sym typeface="Inter 1"/>
              </a:rPr>
              <a:t>El crecimiento de viviendas, remodelaciones e infraestructura mantiene la necesidad de materiales y equipo para construcción.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23950" y="6172200"/>
            <a:ext cx="3429000" cy="1143000"/>
            <a:chOff x="0" y="0"/>
            <a:chExt cx="4572000" cy="1524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7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EAF1F6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57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552950" y="6172200"/>
            <a:ext cx="12611100" cy="1143000"/>
            <a:chOff x="0" y="0"/>
            <a:chExt cx="16814800" cy="1524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814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6814800">
                  <a:moveTo>
                    <a:pt x="0" y="0"/>
                  </a:moveTo>
                  <a:lnTo>
                    <a:pt x="16814800" y="0"/>
                  </a:lnTo>
                  <a:lnTo>
                    <a:pt x="16814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EAF1F6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68148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809750" y="6496050"/>
            <a:ext cx="23812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99" b="true">
                <a:solidFill>
                  <a:srgbClr val="003059"/>
                </a:solidFill>
                <a:latin typeface="Inter 1 Bold"/>
                <a:ea typeface="Inter 1 Bold"/>
                <a:cs typeface="Inter 1 Bold"/>
                <a:sym typeface="Inter 1 Bold"/>
              </a:rPr>
              <a:t>Tecnológico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762500" y="6400800"/>
            <a:ext cx="12192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7212B"/>
                </a:solidFill>
                <a:latin typeface="Inter 1"/>
                <a:ea typeface="Inter 1"/>
                <a:cs typeface="Inter 1"/>
                <a:sym typeface="Inter 1"/>
              </a:rPr>
              <a:t>El uso de sistemas de inventario, ventas digitales, GPS y maquinaria más eficiente puede mejorar la productividad.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23950" y="7315200"/>
            <a:ext cx="3429000" cy="1143000"/>
            <a:chOff x="0" y="0"/>
            <a:chExt cx="4572000" cy="1524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7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57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552950" y="7315200"/>
            <a:ext cx="12611100" cy="1143000"/>
            <a:chOff x="0" y="0"/>
            <a:chExt cx="16814800" cy="1524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814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6814800">
                  <a:moveTo>
                    <a:pt x="0" y="0"/>
                  </a:moveTo>
                  <a:lnTo>
                    <a:pt x="16814800" y="0"/>
                  </a:lnTo>
                  <a:lnTo>
                    <a:pt x="16814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68148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809750" y="7639050"/>
            <a:ext cx="23812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99" b="true">
                <a:solidFill>
                  <a:srgbClr val="003059"/>
                </a:solidFill>
                <a:latin typeface="Inter 1 Bold"/>
                <a:ea typeface="Inter 1 Bold"/>
                <a:cs typeface="Inter 1 Bold"/>
                <a:sym typeface="Inter 1 Bold"/>
              </a:rPr>
              <a:t>Ecológico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762500" y="7543800"/>
            <a:ext cx="12192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7212B"/>
                </a:solidFill>
                <a:latin typeface="Inter 1"/>
                <a:ea typeface="Inter 1"/>
                <a:cs typeface="Inter 1"/>
                <a:sym typeface="Inter 1"/>
              </a:rPr>
              <a:t>La industria enfrenta mayor atención al manejo de residuos, emisiones y uso responsable de recursos.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123950" y="8458200"/>
            <a:ext cx="3429000" cy="1143000"/>
            <a:chOff x="0" y="0"/>
            <a:chExt cx="4572000" cy="1524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57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EAF1F6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57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552950" y="8458200"/>
            <a:ext cx="12611100" cy="1143000"/>
            <a:chOff x="0" y="0"/>
            <a:chExt cx="16814800" cy="1524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814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6814800">
                  <a:moveTo>
                    <a:pt x="0" y="0"/>
                  </a:moveTo>
                  <a:lnTo>
                    <a:pt x="16814800" y="0"/>
                  </a:lnTo>
                  <a:lnTo>
                    <a:pt x="168148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EAF1F6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68148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809750" y="8782050"/>
            <a:ext cx="238125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499" b="true">
                <a:solidFill>
                  <a:srgbClr val="003059"/>
                </a:solidFill>
                <a:latin typeface="Inter 1 Bold"/>
                <a:ea typeface="Inter 1 Bold"/>
                <a:cs typeface="Inter 1 Bold"/>
                <a:sym typeface="Inter 1 Bold"/>
              </a:rPr>
              <a:t>Legal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762500" y="8686800"/>
            <a:ext cx="12192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7212B"/>
                </a:solidFill>
                <a:latin typeface="Inter 1"/>
                <a:ea typeface="Inter 1"/>
                <a:cs typeface="Inter 1"/>
                <a:sym typeface="Inter 1"/>
              </a:rPr>
              <a:t>Las empresas deben cumplir normas relacionadas con seguridad laboral, transporte, almacenamiento y comercialización de materiales.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238250" y="3048923"/>
            <a:ext cx="361950" cy="395029"/>
            <a:chOff x="0" y="0"/>
            <a:chExt cx="482600" cy="52670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2600" cy="526706"/>
            </a:xfrm>
            <a:custGeom>
              <a:avLst/>
              <a:gdLst/>
              <a:ahLst/>
              <a:cxnLst/>
              <a:rect r="r" b="b" t="t" l="l"/>
              <a:pathLst>
                <a:path h="526706" w="482600">
                  <a:moveTo>
                    <a:pt x="0" y="263353"/>
                  </a:moveTo>
                  <a:cubicBezTo>
                    <a:pt x="0" y="408799"/>
                    <a:pt x="108034" y="526706"/>
                    <a:pt x="241300" y="526706"/>
                  </a:cubicBezTo>
                  <a:cubicBezTo>
                    <a:pt x="374566" y="526706"/>
                    <a:pt x="482600" y="408799"/>
                    <a:pt x="482600" y="263353"/>
                  </a:cubicBezTo>
                  <a:cubicBezTo>
                    <a:pt x="482600" y="117907"/>
                    <a:pt x="374566" y="0"/>
                    <a:pt x="241300" y="0"/>
                  </a:cubicBezTo>
                  <a:cubicBezTo>
                    <a:pt x="108034" y="0"/>
                    <a:pt x="0" y="117907"/>
                    <a:pt x="0" y="263353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482600" cy="574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38250" y="4191923"/>
            <a:ext cx="361950" cy="395029"/>
            <a:chOff x="0" y="0"/>
            <a:chExt cx="482600" cy="52670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2600" cy="526706"/>
            </a:xfrm>
            <a:custGeom>
              <a:avLst/>
              <a:gdLst/>
              <a:ahLst/>
              <a:cxnLst/>
              <a:rect r="r" b="b" t="t" l="l"/>
              <a:pathLst>
                <a:path h="526706" w="482600">
                  <a:moveTo>
                    <a:pt x="0" y="263353"/>
                  </a:moveTo>
                  <a:cubicBezTo>
                    <a:pt x="0" y="408799"/>
                    <a:pt x="108034" y="526706"/>
                    <a:pt x="241300" y="526706"/>
                  </a:cubicBezTo>
                  <a:cubicBezTo>
                    <a:pt x="374566" y="526706"/>
                    <a:pt x="482600" y="408799"/>
                    <a:pt x="482600" y="263353"/>
                  </a:cubicBezTo>
                  <a:cubicBezTo>
                    <a:pt x="482600" y="117907"/>
                    <a:pt x="374566" y="0"/>
                    <a:pt x="241300" y="0"/>
                  </a:cubicBezTo>
                  <a:cubicBezTo>
                    <a:pt x="108034" y="0"/>
                    <a:pt x="0" y="117907"/>
                    <a:pt x="0" y="263353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82600" cy="574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38250" y="5334923"/>
            <a:ext cx="361950" cy="395029"/>
            <a:chOff x="0" y="0"/>
            <a:chExt cx="482600" cy="52670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2600" cy="526706"/>
            </a:xfrm>
            <a:custGeom>
              <a:avLst/>
              <a:gdLst/>
              <a:ahLst/>
              <a:cxnLst/>
              <a:rect r="r" b="b" t="t" l="l"/>
              <a:pathLst>
                <a:path h="526706" w="482600">
                  <a:moveTo>
                    <a:pt x="0" y="263353"/>
                  </a:moveTo>
                  <a:cubicBezTo>
                    <a:pt x="0" y="408799"/>
                    <a:pt x="108034" y="526706"/>
                    <a:pt x="241300" y="526706"/>
                  </a:cubicBezTo>
                  <a:cubicBezTo>
                    <a:pt x="374566" y="526706"/>
                    <a:pt x="482600" y="408799"/>
                    <a:pt x="482600" y="263353"/>
                  </a:cubicBezTo>
                  <a:cubicBezTo>
                    <a:pt x="482600" y="117907"/>
                    <a:pt x="374566" y="0"/>
                    <a:pt x="241300" y="0"/>
                  </a:cubicBezTo>
                  <a:cubicBezTo>
                    <a:pt x="108034" y="0"/>
                    <a:pt x="0" y="117907"/>
                    <a:pt x="0" y="263353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482600" cy="574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38250" y="6546185"/>
            <a:ext cx="361950" cy="395029"/>
            <a:chOff x="0" y="0"/>
            <a:chExt cx="482600" cy="52670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2600" cy="526706"/>
            </a:xfrm>
            <a:custGeom>
              <a:avLst/>
              <a:gdLst/>
              <a:ahLst/>
              <a:cxnLst/>
              <a:rect r="r" b="b" t="t" l="l"/>
              <a:pathLst>
                <a:path h="526706" w="482600">
                  <a:moveTo>
                    <a:pt x="0" y="263353"/>
                  </a:moveTo>
                  <a:cubicBezTo>
                    <a:pt x="0" y="408799"/>
                    <a:pt x="108034" y="526706"/>
                    <a:pt x="241300" y="526706"/>
                  </a:cubicBezTo>
                  <a:cubicBezTo>
                    <a:pt x="374566" y="526706"/>
                    <a:pt x="482600" y="408799"/>
                    <a:pt x="482600" y="263353"/>
                  </a:cubicBezTo>
                  <a:cubicBezTo>
                    <a:pt x="482600" y="117907"/>
                    <a:pt x="374566" y="0"/>
                    <a:pt x="241300" y="0"/>
                  </a:cubicBezTo>
                  <a:cubicBezTo>
                    <a:pt x="108034" y="0"/>
                    <a:pt x="0" y="117907"/>
                    <a:pt x="0" y="263353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82600" cy="574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38250" y="7620923"/>
            <a:ext cx="361950" cy="395029"/>
            <a:chOff x="0" y="0"/>
            <a:chExt cx="482600" cy="52670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2600" cy="526706"/>
            </a:xfrm>
            <a:custGeom>
              <a:avLst/>
              <a:gdLst/>
              <a:ahLst/>
              <a:cxnLst/>
              <a:rect r="r" b="b" t="t" l="l"/>
              <a:pathLst>
                <a:path h="526706" w="482600">
                  <a:moveTo>
                    <a:pt x="0" y="263353"/>
                  </a:moveTo>
                  <a:cubicBezTo>
                    <a:pt x="0" y="408799"/>
                    <a:pt x="108034" y="526706"/>
                    <a:pt x="241300" y="526706"/>
                  </a:cubicBezTo>
                  <a:cubicBezTo>
                    <a:pt x="374566" y="526706"/>
                    <a:pt x="482600" y="408799"/>
                    <a:pt x="482600" y="263353"/>
                  </a:cubicBezTo>
                  <a:cubicBezTo>
                    <a:pt x="482600" y="117907"/>
                    <a:pt x="374566" y="0"/>
                    <a:pt x="241300" y="0"/>
                  </a:cubicBezTo>
                  <a:cubicBezTo>
                    <a:pt x="108034" y="0"/>
                    <a:pt x="0" y="117907"/>
                    <a:pt x="0" y="263353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82600" cy="574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38250" y="8763923"/>
            <a:ext cx="361950" cy="395029"/>
            <a:chOff x="0" y="0"/>
            <a:chExt cx="482600" cy="52670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2600" cy="526706"/>
            </a:xfrm>
            <a:custGeom>
              <a:avLst/>
              <a:gdLst/>
              <a:ahLst/>
              <a:cxnLst/>
              <a:rect r="r" b="b" t="t" l="l"/>
              <a:pathLst>
                <a:path h="526706" w="482600">
                  <a:moveTo>
                    <a:pt x="0" y="263353"/>
                  </a:moveTo>
                  <a:cubicBezTo>
                    <a:pt x="0" y="408799"/>
                    <a:pt x="108034" y="526706"/>
                    <a:pt x="241300" y="526706"/>
                  </a:cubicBezTo>
                  <a:cubicBezTo>
                    <a:pt x="374566" y="526706"/>
                    <a:pt x="482600" y="408799"/>
                    <a:pt x="482600" y="263353"/>
                  </a:cubicBezTo>
                  <a:cubicBezTo>
                    <a:pt x="482600" y="117907"/>
                    <a:pt x="374566" y="0"/>
                    <a:pt x="241300" y="0"/>
                  </a:cubicBezTo>
                  <a:cubicBezTo>
                    <a:pt x="108034" y="0"/>
                    <a:pt x="0" y="117907"/>
                    <a:pt x="0" y="263353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482600" cy="574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1450"/>
            <a:chOff x="0" y="0"/>
            <a:chExt cx="24384000" cy="228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457200"/>
            <a:ext cx="16383000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3059"/>
                </a:solidFill>
                <a:latin typeface="Ahkio Bold"/>
                <a:ea typeface="Ahkio Bold"/>
                <a:cs typeface="Ahkio Bold"/>
                <a:sym typeface="Ahkio Bold"/>
              </a:rPr>
              <a:t>4. PESTEL — impacto en la empresa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2500" y="1676400"/>
            <a:ext cx="16383000" cy="57150"/>
            <a:chOff x="0" y="0"/>
            <a:chExt cx="21844000" cy="7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44000" cy="76200"/>
            </a:xfrm>
            <a:custGeom>
              <a:avLst/>
              <a:gdLst/>
              <a:ahLst/>
              <a:cxnLst/>
              <a:rect r="r" b="b" t="t" l="l"/>
              <a:pathLst>
                <a:path h="76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844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" y="2400300"/>
            <a:ext cx="8020050" cy="6667500"/>
            <a:chOff x="0" y="0"/>
            <a:chExt cx="10693400" cy="889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934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0693400">
                  <a:moveTo>
                    <a:pt x="228600" y="0"/>
                  </a:moveTo>
                  <a:lnTo>
                    <a:pt x="10464800" y="0"/>
                  </a:lnTo>
                  <a:cubicBezTo>
                    <a:pt x="10591052" y="0"/>
                    <a:pt x="10693400" y="102348"/>
                    <a:pt x="10693400" y="228600"/>
                  </a:cubicBezTo>
                  <a:lnTo>
                    <a:pt x="10693400" y="8661400"/>
                  </a:lnTo>
                  <a:cubicBezTo>
                    <a:pt x="10693400" y="8787652"/>
                    <a:pt x="10591052" y="8890000"/>
                    <a:pt x="10464800" y="8890000"/>
                  </a:cubicBezTo>
                  <a:lnTo>
                    <a:pt x="228600" y="8890000"/>
                  </a:lnTo>
                  <a:cubicBezTo>
                    <a:pt x="102348" y="8890000"/>
                    <a:pt x="0" y="8787652"/>
                    <a:pt x="0" y="8661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EF4F8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934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2500" y="2400300"/>
            <a:ext cx="8020050" cy="876300"/>
            <a:chOff x="0" y="0"/>
            <a:chExt cx="10693400" cy="1168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93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0693400">
                  <a:moveTo>
                    <a:pt x="228600" y="0"/>
                  </a:moveTo>
                  <a:lnTo>
                    <a:pt x="10464800" y="0"/>
                  </a:lnTo>
                  <a:cubicBezTo>
                    <a:pt x="10591052" y="0"/>
                    <a:pt x="10693400" y="102348"/>
                    <a:pt x="10693400" y="228600"/>
                  </a:cubicBezTo>
                  <a:lnTo>
                    <a:pt x="10693400" y="939800"/>
                  </a:lnTo>
                  <a:cubicBezTo>
                    <a:pt x="10693400" y="1066052"/>
                    <a:pt x="10591052" y="1168400"/>
                    <a:pt x="10464800" y="1168400"/>
                  </a:cubicBezTo>
                  <a:lnTo>
                    <a:pt x="228600" y="1168400"/>
                  </a:lnTo>
                  <a:cubicBezTo>
                    <a:pt x="102348" y="1168400"/>
                    <a:pt x="0" y="1066052"/>
                    <a:pt x="0" y="9398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0030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6934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" y="3105150"/>
            <a:ext cx="8020050" cy="171450"/>
            <a:chOff x="0" y="0"/>
            <a:chExt cx="10693400" cy="228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93400" cy="228600"/>
            </a:xfrm>
            <a:custGeom>
              <a:avLst/>
              <a:gdLst/>
              <a:ahLst/>
              <a:cxnLst/>
              <a:rect r="r" b="b" t="t" l="l"/>
              <a:pathLst>
                <a:path h="228600" w="10693400">
                  <a:moveTo>
                    <a:pt x="0" y="0"/>
                  </a:moveTo>
                  <a:lnTo>
                    <a:pt x="10693400" y="0"/>
                  </a:lnTo>
                  <a:lnTo>
                    <a:pt x="106934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0030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6934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15450" y="2400300"/>
            <a:ext cx="8020050" cy="6667500"/>
            <a:chOff x="0" y="0"/>
            <a:chExt cx="10693400" cy="889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934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0693400">
                  <a:moveTo>
                    <a:pt x="228600" y="0"/>
                  </a:moveTo>
                  <a:lnTo>
                    <a:pt x="10464800" y="0"/>
                  </a:lnTo>
                  <a:cubicBezTo>
                    <a:pt x="10591052" y="0"/>
                    <a:pt x="10693400" y="102348"/>
                    <a:pt x="10693400" y="228600"/>
                  </a:cubicBezTo>
                  <a:lnTo>
                    <a:pt x="10693400" y="8661400"/>
                  </a:lnTo>
                  <a:cubicBezTo>
                    <a:pt x="10693400" y="8787652"/>
                    <a:pt x="10591052" y="8890000"/>
                    <a:pt x="10464800" y="8890000"/>
                  </a:cubicBezTo>
                  <a:lnTo>
                    <a:pt x="228600" y="8890000"/>
                  </a:lnTo>
                  <a:cubicBezTo>
                    <a:pt x="102348" y="8890000"/>
                    <a:pt x="0" y="8787652"/>
                    <a:pt x="0" y="8661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3E6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6934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15450" y="2400300"/>
            <a:ext cx="8020050" cy="876300"/>
            <a:chOff x="0" y="0"/>
            <a:chExt cx="10693400" cy="1168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93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0693400">
                  <a:moveTo>
                    <a:pt x="228600" y="0"/>
                  </a:moveTo>
                  <a:lnTo>
                    <a:pt x="10464800" y="0"/>
                  </a:lnTo>
                  <a:cubicBezTo>
                    <a:pt x="10591052" y="0"/>
                    <a:pt x="10693400" y="102348"/>
                    <a:pt x="10693400" y="228600"/>
                  </a:cubicBezTo>
                  <a:lnTo>
                    <a:pt x="10693400" y="939800"/>
                  </a:lnTo>
                  <a:cubicBezTo>
                    <a:pt x="10693400" y="1066052"/>
                    <a:pt x="10591052" y="1168400"/>
                    <a:pt x="10464800" y="1168400"/>
                  </a:cubicBezTo>
                  <a:lnTo>
                    <a:pt x="228600" y="1168400"/>
                  </a:lnTo>
                  <a:cubicBezTo>
                    <a:pt x="102348" y="1168400"/>
                    <a:pt x="0" y="1066052"/>
                    <a:pt x="0" y="9398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693400" cy="120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15450" y="3105150"/>
            <a:ext cx="8020050" cy="171450"/>
            <a:chOff x="0" y="0"/>
            <a:chExt cx="10693400" cy="228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93400" cy="228600"/>
            </a:xfrm>
            <a:custGeom>
              <a:avLst/>
              <a:gdLst/>
              <a:ahLst/>
              <a:cxnLst/>
              <a:rect r="r" b="b" t="t" l="l"/>
              <a:pathLst>
                <a:path h="228600" w="10693400">
                  <a:moveTo>
                    <a:pt x="0" y="0"/>
                  </a:moveTo>
                  <a:lnTo>
                    <a:pt x="10693400" y="0"/>
                  </a:lnTo>
                  <a:lnTo>
                    <a:pt x="106934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6934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2100000">
            <a:off x="8134350" y="2628900"/>
            <a:ext cx="514350" cy="76200"/>
            <a:chOff x="0" y="0"/>
            <a:chExt cx="685800" cy="10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5800" cy="101600"/>
            </a:xfrm>
            <a:custGeom>
              <a:avLst/>
              <a:gdLst/>
              <a:ahLst/>
              <a:cxnLst/>
              <a:rect r="r" b="b" t="t" l="l"/>
              <a:pathLst>
                <a:path h="1016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858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2100000">
            <a:off x="8343900" y="2819400"/>
            <a:ext cx="514350" cy="76200"/>
            <a:chOff x="0" y="0"/>
            <a:chExt cx="685800" cy="10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5800" cy="101600"/>
            </a:xfrm>
            <a:custGeom>
              <a:avLst/>
              <a:gdLst/>
              <a:ahLst/>
              <a:cxnLst/>
              <a:rect r="r" b="b" t="t" l="l"/>
              <a:pathLst>
                <a:path h="1016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858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2100000">
            <a:off x="16497300" y="2628900"/>
            <a:ext cx="514350" cy="76200"/>
            <a:chOff x="0" y="0"/>
            <a:chExt cx="685800" cy="101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5800" cy="101600"/>
            </a:xfrm>
            <a:custGeom>
              <a:avLst/>
              <a:gdLst/>
              <a:ahLst/>
              <a:cxnLst/>
              <a:rect r="r" b="b" t="t" l="l"/>
              <a:pathLst>
                <a:path h="1016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858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2100000">
            <a:off x="16706850" y="2819400"/>
            <a:ext cx="514350" cy="76200"/>
            <a:chOff x="0" y="0"/>
            <a:chExt cx="685800" cy="101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5800" cy="101600"/>
            </a:xfrm>
            <a:custGeom>
              <a:avLst/>
              <a:gdLst/>
              <a:ahLst/>
              <a:cxnLst/>
              <a:rect r="r" b="b" t="t" l="l"/>
              <a:pathLst>
                <a:path h="1016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858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752600" y="2512344"/>
            <a:ext cx="72199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Oportunidades externas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15550" y="2581275"/>
            <a:ext cx="72199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Amenazas externas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2550" y="3724275"/>
            <a:ext cx="7219950" cy="40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7212B"/>
                </a:solidFill>
                <a:latin typeface="Inter 2"/>
                <a:ea typeface="Inter 2"/>
                <a:cs typeface="Inter 2"/>
                <a:sym typeface="Inter 2"/>
              </a:rPr>
              <a:t>Crecimiento de proyectos de infraestructura.</a:t>
            </a:r>
          </a:p>
          <a:p>
            <a:pPr algn="l" marL="647698" indent="-3238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7212B"/>
                </a:solidFill>
                <a:latin typeface="Inter 2"/>
                <a:ea typeface="Inter 2"/>
                <a:cs typeface="Inter 2"/>
                <a:sym typeface="Inter 2"/>
              </a:rPr>
              <a:t>Demanda constante de materiales de construcción.</a:t>
            </a:r>
          </a:p>
          <a:p>
            <a:pPr algn="l" marL="647698" indent="-3238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7212B"/>
                </a:solidFill>
                <a:latin typeface="Inter 2"/>
                <a:ea typeface="Inter 2"/>
                <a:cs typeface="Inter 2"/>
                <a:sym typeface="Inter 2"/>
              </a:rPr>
              <a:t>Uso de herramientas digitales para mejorar ventas e inventario.</a:t>
            </a:r>
          </a:p>
          <a:p>
            <a:pPr algn="l" marL="647698" indent="-3238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7212B"/>
                </a:solidFill>
                <a:latin typeface="Inter 2"/>
                <a:ea typeface="Inter 2"/>
                <a:cs typeface="Inter 2"/>
                <a:sym typeface="Inter 2"/>
              </a:rPr>
              <a:t>Posibilidad de ampliar el catálogo.</a:t>
            </a:r>
          </a:p>
          <a:p>
            <a:pPr algn="l" marL="647698" indent="-3238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7212B"/>
                </a:solidFill>
                <a:latin typeface="Inter 2"/>
                <a:ea typeface="Inter 2"/>
                <a:cs typeface="Inter 2"/>
                <a:sym typeface="Inter 2"/>
              </a:rPr>
              <a:t>Demanda de maquinaria para proyectos de construcción.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15500" y="3724275"/>
            <a:ext cx="7219950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7212B"/>
                </a:solidFill>
                <a:latin typeface="Inter 2"/>
                <a:ea typeface="Inter 2"/>
                <a:cs typeface="Inter 2"/>
                <a:sym typeface="Inter 2"/>
              </a:rPr>
              <a:t>Incremento en precios de materiales.</a:t>
            </a:r>
          </a:p>
          <a:p>
            <a:pPr algn="l" marL="647698" indent="-3238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7212B"/>
                </a:solidFill>
                <a:latin typeface="Inter 2"/>
                <a:ea typeface="Inter 2"/>
                <a:cs typeface="Inter 2"/>
                <a:sym typeface="Inter 2"/>
              </a:rPr>
              <a:t>Competencia de grandes distribuidores.</a:t>
            </a:r>
          </a:p>
          <a:p>
            <a:pPr algn="l" marL="647698" indent="-3238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7212B"/>
                </a:solidFill>
                <a:latin typeface="Inter 2"/>
                <a:ea typeface="Inter 2"/>
                <a:cs typeface="Inter 2"/>
                <a:sym typeface="Inter 2"/>
              </a:rPr>
              <a:t>Incremento en costos de combustible y transporte.</a:t>
            </a:r>
          </a:p>
          <a:p>
            <a:pPr algn="l" marL="647698" indent="-3238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7212B"/>
                </a:solidFill>
                <a:latin typeface="Inter 2"/>
                <a:ea typeface="Inter 2"/>
                <a:cs typeface="Inter 2"/>
                <a:sym typeface="Inter 2"/>
              </a:rPr>
              <a:t>Cambios regulatorios.</a:t>
            </a:r>
          </a:p>
          <a:p>
            <a:pPr algn="l" marL="647698" indent="-323849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7212B"/>
                </a:solidFill>
                <a:latin typeface="Inter 2"/>
                <a:ea typeface="Inter 2"/>
                <a:cs typeface="Inter 2"/>
                <a:sym typeface="Inter 2"/>
              </a:rPr>
              <a:t>Variación en la demanda de construcción.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43000" y="2571750"/>
            <a:ext cx="514350" cy="514350"/>
            <a:chOff x="0" y="0"/>
            <a:chExt cx="685800" cy="685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532278"/>
                    <a:pt x="153522" y="685800"/>
                    <a:pt x="342900" y="685800"/>
                  </a:cubicBezTo>
                  <a:cubicBezTo>
                    <a:pt x="532278" y="685800"/>
                    <a:pt x="685800" y="532278"/>
                    <a:pt x="685800" y="342900"/>
                  </a:cubicBezTo>
                  <a:cubicBezTo>
                    <a:pt x="685800" y="153522"/>
                    <a:pt x="532278" y="0"/>
                    <a:pt x="342900" y="0"/>
                  </a:cubicBezTo>
                  <a:cubicBezTo>
                    <a:pt x="153522" y="0"/>
                    <a:pt x="0" y="153522"/>
                    <a:pt x="0" y="342900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685800" cy="74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+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505950" y="2571750"/>
            <a:ext cx="514350" cy="514350"/>
            <a:chOff x="0" y="0"/>
            <a:chExt cx="685800" cy="685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532278"/>
                    <a:pt x="153522" y="685800"/>
                    <a:pt x="342900" y="685800"/>
                  </a:cubicBezTo>
                  <a:cubicBezTo>
                    <a:pt x="532278" y="685800"/>
                    <a:pt x="685800" y="532278"/>
                    <a:pt x="685800" y="342900"/>
                  </a:cubicBezTo>
                  <a:cubicBezTo>
                    <a:pt x="685800" y="153522"/>
                    <a:pt x="532278" y="0"/>
                    <a:pt x="342900" y="0"/>
                  </a:cubicBezTo>
                  <a:cubicBezTo>
                    <a:pt x="153522" y="0"/>
                    <a:pt x="0" y="153522"/>
                    <a:pt x="0" y="342900"/>
                  </a:cubicBezTo>
                  <a:close/>
                </a:path>
              </a:pathLst>
            </a:custGeom>
            <a:solidFill>
              <a:srgbClr val="003059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685800" cy="74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!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2064" y="119826"/>
            <a:ext cx="6473952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5. Análisis FODA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28625" y="1066800"/>
            <a:ext cx="17430750" cy="219075"/>
          </a:xfrm>
          <a:custGeom>
            <a:avLst/>
            <a:gdLst/>
            <a:ahLst/>
            <a:cxnLst/>
            <a:rect r="r" b="b" t="t" l="l"/>
            <a:pathLst>
              <a:path h="219075" w="17430750">
                <a:moveTo>
                  <a:pt x="0" y="0"/>
                </a:moveTo>
                <a:lnTo>
                  <a:pt x="17430750" y="0"/>
                </a:lnTo>
                <a:lnTo>
                  <a:pt x="1743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8625" y="1285875"/>
            <a:ext cx="8715375" cy="4286250"/>
          </a:xfrm>
          <a:custGeom>
            <a:avLst/>
            <a:gdLst/>
            <a:ahLst/>
            <a:cxnLst/>
            <a:rect r="r" b="b" t="t" l="l"/>
            <a:pathLst>
              <a:path h="4286250" w="8715375">
                <a:moveTo>
                  <a:pt x="0" y="0"/>
                </a:moveTo>
                <a:lnTo>
                  <a:pt x="8715375" y="0"/>
                </a:lnTo>
                <a:lnTo>
                  <a:pt x="871537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775" y="1495425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75104" y="1748695"/>
            <a:ext cx="30175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FORTALEZAS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2814126"/>
            <a:ext cx="8119872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10 años de experiencia en el sector.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Conocimiento del mercado y los productos.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Relación estable con proveedores.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Amplia variedad: materiales y maquianria.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Oferta adaptable a las necesidades del mercado.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144000" y="1285875"/>
            <a:ext cx="8715375" cy="4286250"/>
          </a:xfrm>
          <a:custGeom>
            <a:avLst/>
            <a:gdLst/>
            <a:ahLst/>
            <a:cxnLst/>
            <a:rect r="r" b="b" t="t" l="l"/>
            <a:pathLst>
              <a:path h="4286250" w="8715375">
                <a:moveTo>
                  <a:pt x="0" y="0"/>
                </a:moveTo>
                <a:lnTo>
                  <a:pt x="8715375" y="0"/>
                </a:lnTo>
                <a:lnTo>
                  <a:pt x="871537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72625" y="1495425"/>
            <a:ext cx="885825" cy="1076325"/>
          </a:xfrm>
          <a:custGeom>
            <a:avLst/>
            <a:gdLst/>
            <a:ahLst/>
            <a:cxnLst/>
            <a:rect r="r" b="b" t="t" l="l"/>
            <a:pathLst>
              <a:path h="1076325" w="8858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61904" y="1744528"/>
            <a:ext cx="404164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OPORTUNIDADES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91472" y="2836152"/>
            <a:ext cx="8119872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Digitalizar cotizaciones y seguimiento de clientes.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Crear canales de venta y catálogo en línea.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Digitalizar el control de inventarios.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Llegar a nuevos clientes y zonas.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Incorporar productos según la demanda.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8625" y="5572125"/>
            <a:ext cx="8715375" cy="4505325"/>
          </a:xfrm>
          <a:custGeom>
            <a:avLst/>
            <a:gdLst/>
            <a:ahLst/>
            <a:cxnLst/>
            <a:rect r="r" b="b" t="t" l="l"/>
            <a:pathLst>
              <a:path h="4505325" w="8715375">
                <a:moveTo>
                  <a:pt x="0" y="0"/>
                </a:moveTo>
                <a:lnTo>
                  <a:pt x="8715375" y="0"/>
                </a:lnTo>
                <a:lnTo>
                  <a:pt x="87153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66775" y="5781675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75104" y="5904345"/>
            <a:ext cx="303580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DEBILIDADES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1520" y="6998446"/>
            <a:ext cx="8119872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Inventario registrado en libretas.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Cuentas y ventas manejadas en Excel.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Falta de un sistema integral de operaciones.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Cotizaciones principalmente presenciales o telefónicas.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Poco uso de herramientas digitales.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144000" y="5572125"/>
            <a:ext cx="8715375" cy="4505325"/>
          </a:xfrm>
          <a:custGeom>
            <a:avLst/>
            <a:gdLst/>
            <a:ahLst/>
            <a:cxnLst/>
            <a:rect r="r" b="b" t="t" l="l"/>
            <a:pathLst>
              <a:path h="4505325" w="8715375">
                <a:moveTo>
                  <a:pt x="0" y="0"/>
                </a:moveTo>
                <a:lnTo>
                  <a:pt x="8715375" y="0"/>
                </a:lnTo>
                <a:lnTo>
                  <a:pt x="87153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72625" y="5781675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661904" y="5896011"/>
            <a:ext cx="270662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AMENAZAS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91472" y="6998446"/>
            <a:ext cx="8119872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 strike="noStrike" u="none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Competencia de distribuidores grandes y especializados en maquinaria.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 strike="noStrike" u="none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Variación de precios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 strike="noStrike" u="none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Combustible/transporte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 strike="noStrike" u="none">
                <a:solidFill>
                  <a:srgbClr val="00305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Cambios en el sector de la construcción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66750" y="1476375"/>
            <a:ext cx="514350" cy="514350"/>
            <a:chOff x="0" y="0"/>
            <a:chExt cx="68580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532278"/>
                    <a:pt x="153522" y="685800"/>
                    <a:pt x="342900" y="685800"/>
                  </a:cubicBezTo>
                  <a:cubicBezTo>
                    <a:pt x="532278" y="685800"/>
                    <a:pt x="685800" y="532278"/>
                    <a:pt x="685800" y="342900"/>
                  </a:cubicBezTo>
                  <a:cubicBezTo>
                    <a:pt x="685800" y="153522"/>
                    <a:pt x="532278" y="0"/>
                    <a:pt x="342900" y="0"/>
                  </a:cubicBezTo>
                  <a:cubicBezTo>
                    <a:pt x="153522" y="0"/>
                    <a:pt x="0" y="153522"/>
                    <a:pt x="0" y="342900"/>
                  </a:cubicBezTo>
                  <a:close/>
                </a:path>
              </a:pathLst>
            </a:custGeom>
            <a:solidFill>
              <a:srgbClr val="00305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85800" cy="74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82125" y="1476375"/>
            <a:ext cx="514350" cy="514350"/>
            <a:chOff x="0" y="0"/>
            <a:chExt cx="685800" cy="685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532278"/>
                    <a:pt x="153522" y="685800"/>
                    <a:pt x="342900" y="685800"/>
                  </a:cubicBezTo>
                  <a:cubicBezTo>
                    <a:pt x="532278" y="685800"/>
                    <a:pt x="685800" y="532278"/>
                    <a:pt x="685800" y="342900"/>
                  </a:cubicBezTo>
                  <a:cubicBezTo>
                    <a:pt x="685800" y="153522"/>
                    <a:pt x="532278" y="0"/>
                    <a:pt x="342900" y="0"/>
                  </a:cubicBezTo>
                  <a:cubicBezTo>
                    <a:pt x="153522" y="0"/>
                    <a:pt x="0" y="153522"/>
                    <a:pt x="0" y="342900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85800" cy="74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66750" y="5762625"/>
            <a:ext cx="514350" cy="514350"/>
            <a:chOff x="0" y="0"/>
            <a:chExt cx="685800" cy="685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532278"/>
                    <a:pt x="153522" y="685800"/>
                    <a:pt x="342900" y="685800"/>
                  </a:cubicBezTo>
                  <a:cubicBezTo>
                    <a:pt x="532278" y="685800"/>
                    <a:pt x="685800" y="532278"/>
                    <a:pt x="685800" y="342900"/>
                  </a:cubicBezTo>
                  <a:cubicBezTo>
                    <a:pt x="685800" y="153522"/>
                    <a:pt x="532278" y="0"/>
                    <a:pt x="342900" y="0"/>
                  </a:cubicBezTo>
                  <a:cubicBezTo>
                    <a:pt x="153522" y="0"/>
                    <a:pt x="0" y="153522"/>
                    <a:pt x="0" y="342900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85800" cy="74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82125" y="5762625"/>
            <a:ext cx="514350" cy="514350"/>
            <a:chOff x="0" y="0"/>
            <a:chExt cx="685800" cy="685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532278"/>
                    <a:pt x="153522" y="685800"/>
                    <a:pt x="342900" y="685800"/>
                  </a:cubicBezTo>
                  <a:cubicBezTo>
                    <a:pt x="532278" y="685800"/>
                    <a:pt x="685800" y="532278"/>
                    <a:pt x="685800" y="342900"/>
                  </a:cubicBezTo>
                  <a:cubicBezTo>
                    <a:pt x="685800" y="153522"/>
                    <a:pt x="532278" y="0"/>
                    <a:pt x="342900" y="0"/>
                  </a:cubicBezTo>
                  <a:cubicBezTo>
                    <a:pt x="153522" y="0"/>
                    <a:pt x="0" y="153522"/>
                    <a:pt x="0" y="342900"/>
                  </a:cubicBezTo>
                  <a:close/>
                </a:path>
              </a:pathLst>
            </a:custGeom>
            <a:solidFill>
              <a:srgbClr val="00305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85800" cy="74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304800"/>
            <a:ext cx="8382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3059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6.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52625" y="419100"/>
            <a:ext cx="15382875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03059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Diagnóstico de Estrategias Industriales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1333500"/>
            <a:ext cx="16383000" cy="57150"/>
            <a:chOff x="0" y="0"/>
            <a:chExt cx="21844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76200"/>
            </a:xfrm>
            <a:custGeom>
              <a:avLst/>
              <a:gdLst/>
              <a:ahLst/>
              <a:cxnLst/>
              <a:rect r="r" b="b" t="t" l="l"/>
              <a:pathLst>
                <a:path h="76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2085975"/>
            <a:ext cx="5257800" cy="5715000"/>
            <a:chOff x="0" y="0"/>
            <a:chExt cx="7010400" cy="762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104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010400">
                  <a:moveTo>
                    <a:pt x="203200" y="0"/>
                  </a:moveTo>
                  <a:lnTo>
                    <a:pt x="6807200" y="0"/>
                  </a:lnTo>
                  <a:cubicBezTo>
                    <a:pt x="6919424" y="0"/>
                    <a:pt x="7010400" y="90976"/>
                    <a:pt x="7010400" y="203200"/>
                  </a:cubicBezTo>
                  <a:lnTo>
                    <a:pt x="7010400" y="7416800"/>
                  </a:lnTo>
                  <a:cubicBezTo>
                    <a:pt x="7010400" y="7529024"/>
                    <a:pt x="6919424" y="7620000"/>
                    <a:pt x="6807200" y="7620000"/>
                  </a:cubicBezTo>
                  <a:lnTo>
                    <a:pt x="203200" y="7620000"/>
                  </a:lnTo>
                  <a:cubicBezTo>
                    <a:pt x="90976" y="7620000"/>
                    <a:pt x="0" y="7529024"/>
                    <a:pt x="0" y="741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7F9"/>
            </a:solidFill>
            <a:ln w="19050" cap="sq">
              <a:solidFill>
                <a:srgbClr val="D6E0E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010400" cy="765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2500" y="1809750"/>
            <a:ext cx="5257800" cy="990600"/>
            <a:chOff x="0" y="0"/>
            <a:chExt cx="7010400" cy="132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104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7010400">
                  <a:moveTo>
                    <a:pt x="203200" y="0"/>
                  </a:moveTo>
                  <a:lnTo>
                    <a:pt x="6807200" y="0"/>
                  </a:lnTo>
                  <a:cubicBezTo>
                    <a:pt x="6919424" y="0"/>
                    <a:pt x="7010400" y="90976"/>
                    <a:pt x="7010400" y="203200"/>
                  </a:cubicBezTo>
                  <a:lnTo>
                    <a:pt x="7010400" y="1117600"/>
                  </a:lnTo>
                  <a:cubicBezTo>
                    <a:pt x="7010400" y="1229824"/>
                    <a:pt x="6919424" y="1320800"/>
                    <a:pt x="6807200" y="1320800"/>
                  </a:cubicBezTo>
                  <a:lnTo>
                    <a:pt x="203200" y="1320800"/>
                  </a:lnTo>
                  <a:cubicBezTo>
                    <a:pt x="90976" y="1320800"/>
                    <a:pt x="0" y="1229824"/>
                    <a:pt x="0" y="11176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152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010400" cy="135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500" y="2647950"/>
            <a:ext cx="5257800" cy="152400"/>
            <a:chOff x="0" y="0"/>
            <a:chExt cx="7010400" cy="20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10400" cy="203200"/>
            </a:xfrm>
            <a:custGeom>
              <a:avLst/>
              <a:gdLst/>
              <a:ahLst/>
              <a:cxnLst/>
              <a:rect r="r" b="b" t="t" l="l"/>
              <a:pathLst>
                <a:path h="203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00152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0104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1100" y="2019300"/>
            <a:ext cx="552450" cy="552450"/>
            <a:chOff x="0" y="0"/>
            <a:chExt cx="736600" cy="736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368300"/>
                  </a:moveTo>
                  <a:cubicBezTo>
                    <a:pt x="0" y="571706"/>
                    <a:pt x="164894" y="736600"/>
                    <a:pt x="368300" y="736600"/>
                  </a:cubicBezTo>
                  <a:cubicBezTo>
                    <a:pt x="571706" y="736600"/>
                    <a:pt x="736600" y="571706"/>
                    <a:pt x="736600" y="368300"/>
                  </a:cubicBezTo>
                  <a:cubicBezTo>
                    <a:pt x="736600" y="164894"/>
                    <a:pt x="571706" y="0"/>
                    <a:pt x="368300" y="0"/>
                  </a:cubicBezTo>
                  <a:cubicBezTo>
                    <a:pt x="164894" y="0"/>
                    <a:pt x="0" y="164894"/>
                    <a:pt x="0" y="368300"/>
                  </a:cubicBez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81100" y="2038350"/>
            <a:ext cx="55245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5950" y="2105025"/>
            <a:ext cx="409575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600" b="true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Situación actual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76350" y="3152775"/>
            <a:ext cx="95250" cy="95250"/>
            <a:chOff x="0" y="0"/>
            <a:chExt cx="127000" cy="12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504950" y="3057525"/>
            <a:ext cx="4381500" cy="100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2199" b="true">
                <a:solidFill>
                  <a:srgbClr val="183246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Empresa con aproximadamente 10 años de experiencia y una cartera de clientes recurrentes.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76350" y="4308856"/>
            <a:ext cx="95250" cy="95250"/>
            <a:chOff x="0" y="0"/>
            <a:chExt cx="127000" cy="127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04950" y="4213606"/>
            <a:ext cx="4381500" cy="133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2199" b="true">
                <a:solidFill>
                  <a:srgbClr val="183246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Las decisiones se basan en la experiencia, el comportamiento de la oferta y la demanda y las condiciones del mercado.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76350" y="5724144"/>
            <a:ext cx="95250" cy="95250"/>
            <a:chOff x="0" y="0"/>
            <a:chExt cx="127000" cy="127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504950" y="5628894"/>
            <a:ext cx="4381500" cy="133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2199" b="true">
                <a:solidFill>
                  <a:srgbClr val="183246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Los precios consideran la competencia, los costos de adquisición y las condiciones del mercado.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515100" y="1809750"/>
            <a:ext cx="5257800" cy="5715000"/>
            <a:chOff x="0" y="0"/>
            <a:chExt cx="7010400" cy="7620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104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010400">
                  <a:moveTo>
                    <a:pt x="203200" y="0"/>
                  </a:moveTo>
                  <a:lnTo>
                    <a:pt x="6807200" y="0"/>
                  </a:lnTo>
                  <a:cubicBezTo>
                    <a:pt x="6919424" y="0"/>
                    <a:pt x="7010400" y="90976"/>
                    <a:pt x="7010400" y="203200"/>
                  </a:cubicBezTo>
                  <a:lnTo>
                    <a:pt x="7010400" y="7416800"/>
                  </a:lnTo>
                  <a:cubicBezTo>
                    <a:pt x="7010400" y="7529024"/>
                    <a:pt x="6919424" y="7620000"/>
                    <a:pt x="6807200" y="7620000"/>
                  </a:cubicBezTo>
                  <a:lnTo>
                    <a:pt x="203200" y="7620000"/>
                  </a:lnTo>
                  <a:cubicBezTo>
                    <a:pt x="90976" y="7620000"/>
                    <a:pt x="0" y="7529024"/>
                    <a:pt x="0" y="741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7F9"/>
            </a:solidFill>
            <a:ln w="19050" cap="sq">
              <a:solidFill>
                <a:srgbClr val="D6E0E6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010400" cy="765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515100" y="1809750"/>
            <a:ext cx="5257800" cy="990600"/>
            <a:chOff x="0" y="0"/>
            <a:chExt cx="7010400" cy="1320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104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7010400">
                  <a:moveTo>
                    <a:pt x="203200" y="0"/>
                  </a:moveTo>
                  <a:lnTo>
                    <a:pt x="6807200" y="0"/>
                  </a:lnTo>
                  <a:cubicBezTo>
                    <a:pt x="6919424" y="0"/>
                    <a:pt x="7010400" y="90976"/>
                    <a:pt x="7010400" y="203200"/>
                  </a:cubicBezTo>
                  <a:lnTo>
                    <a:pt x="7010400" y="1117600"/>
                  </a:lnTo>
                  <a:cubicBezTo>
                    <a:pt x="7010400" y="1229824"/>
                    <a:pt x="6919424" y="1320800"/>
                    <a:pt x="6807200" y="1320800"/>
                  </a:cubicBezTo>
                  <a:lnTo>
                    <a:pt x="203200" y="1320800"/>
                  </a:lnTo>
                  <a:cubicBezTo>
                    <a:pt x="90976" y="1320800"/>
                    <a:pt x="0" y="1229824"/>
                    <a:pt x="0" y="11176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010400" cy="135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515100" y="2647950"/>
            <a:ext cx="5257800" cy="152400"/>
            <a:chOff x="0" y="0"/>
            <a:chExt cx="7010400" cy="203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10400" cy="203200"/>
            </a:xfrm>
            <a:custGeom>
              <a:avLst/>
              <a:gdLst/>
              <a:ahLst/>
              <a:cxnLst/>
              <a:rect r="r" b="b" t="t" l="l"/>
              <a:pathLst>
                <a:path h="203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0104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743700" y="2019300"/>
            <a:ext cx="552450" cy="552450"/>
            <a:chOff x="0" y="0"/>
            <a:chExt cx="736600" cy="736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368300"/>
                  </a:moveTo>
                  <a:cubicBezTo>
                    <a:pt x="0" y="571706"/>
                    <a:pt x="164894" y="736600"/>
                    <a:pt x="368300" y="736600"/>
                  </a:cubicBezTo>
                  <a:cubicBezTo>
                    <a:pt x="571706" y="736600"/>
                    <a:pt x="736600" y="571706"/>
                    <a:pt x="736600" y="368300"/>
                  </a:cubicBezTo>
                  <a:cubicBezTo>
                    <a:pt x="736600" y="164894"/>
                    <a:pt x="571706" y="0"/>
                    <a:pt x="368300" y="0"/>
                  </a:cubicBezTo>
                  <a:cubicBezTo>
                    <a:pt x="164894" y="0"/>
                    <a:pt x="0" y="164894"/>
                    <a:pt x="0" y="368300"/>
                  </a:cubicBezTo>
                  <a:close/>
                </a:path>
              </a:pathLst>
            </a:custGeom>
            <a:solidFill>
              <a:srgbClr val="001524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743700" y="2038350"/>
            <a:ext cx="55245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448550" y="2105025"/>
            <a:ext cx="409575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600" b="true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Estrategia e innovación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838950" y="3152775"/>
            <a:ext cx="95250" cy="95250"/>
            <a:chOff x="0" y="0"/>
            <a:chExt cx="127000" cy="127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00152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7067550" y="3057525"/>
            <a:ext cx="4381500" cy="133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2199" b="true">
                <a:solidFill>
                  <a:srgbClr val="183246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No existe una estrategia industrial formalmente definida ni objetivos de largo plazo documentados.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838950" y="5930900"/>
            <a:ext cx="95250" cy="95250"/>
            <a:chOff x="0" y="0"/>
            <a:chExt cx="127000" cy="127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001524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7086600" y="4539107"/>
            <a:ext cx="4381500" cy="100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2199" b="true">
                <a:solidFill>
                  <a:srgbClr val="183246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El inventario y las requisiciones se gestionan principalmente de forma manual.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6838950" y="4649978"/>
            <a:ext cx="95250" cy="95250"/>
            <a:chOff x="0" y="0"/>
            <a:chExt cx="127000" cy="127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001524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7067550" y="5781675"/>
            <a:ext cx="4381500" cy="100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2199" b="true">
                <a:solidFill>
                  <a:srgbClr val="183246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Se utiliza Excel para registros y reportes, pero no existe un sistema integral de gestión.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077700" y="1809750"/>
            <a:ext cx="5257800" cy="5715000"/>
            <a:chOff x="0" y="0"/>
            <a:chExt cx="7010400" cy="7620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104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010400">
                  <a:moveTo>
                    <a:pt x="203200" y="0"/>
                  </a:moveTo>
                  <a:lnTo>
                    <a:pt x="6807200" y="0"/>
                  </a:lnTo>
                  <a:cubicBezTo>
                    <a:pt x="6919424" y="0"/>
                    <a:pt x="7010400" y="90976"/>
                    <a:pt x="7010400" y="203200"/>
                  </a:cubicBezTo>
                  <a:lnTo>
                    <a:pt x="7010400" y="7416800"/>
                  </a:lnTo>
                  <a:cubicBezTo>
                    <a:pt x="7010400" y="7529024"/>
                    <a:pt x="6919424" y="7620000"/>
                    <a:pt x="6807200" y="7620000"/>
                  </a:cubicBezTo>
                  <a:lnTo>
                    <a:pt x="203200" y="7620000"/>
                  </a:lnTo>
                  <a:cubicBezTo>
                    <a:pt x="90976" y="7620000"/>
                    <a:pt x="0" y="7529024"/>
                    <a:pt x="0" y="7416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7F9"/>
            </a:solidFill>
            <a:ln w="19050" cap="sq">
              <a:solidFill>
                <a:srgbClr val="D6E0E6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010400" cy="765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077700" y="1809750"/>
            <a:ext cx="5257800" cy="990600"/>
            <a:chOff x="0" y="0"/>
            <a:chExt cx="7010400" cy="1320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104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7010400">
                  <a:moveTo>
                    <a:pt x="203200" y="0"/>
                  </a:moveTo>
                  <a:lnTo>
                    <a:pt x="6807200" y="0"/>
                  </a:lnTo>
                  <a:cubicBezTo>
                    <a:pt x="6919424" y="0"/>
                    <a:pt x="7010400" y="90976"/>
                    <a:pt x="7010400" y="203200"/>
                  </a:cubicBezTo>
                  <a:lnTo>
                    <a:pt x="7010400" y="1117600"/>
                  </a:lnTo>
                  <a:cubicBezTo>
                    <a:pt x="7010400" y="1229824"/>
                    <a:pt x="6919424" y="1320800"/>
                    <a:pt x="6807200" y="1320800"/>
                  </a:cubicBezTo>
                  <a:lnTo>
                    <a:pt x="203200" y="1320800"/>
                  </a:lnTo>
                  <a:cubicBezTo>
                    <a:pt x="90976" y="1320800"/>
                    <a:pt x="0" y="1229824"/>
                    <a:pt x="0" y="11176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1524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010400" cy="135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077700" y="2647950"/>
            <a:ext cx="5257800" cy="152400"/>
            <a:chOff x="0" y="0"/>
            <a:chExt cx="7010400" cy="203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010400" cy="203200"/>
            </a:xfrm>
            <a:custGeom>
              <a:avLst/>
              <a:gdLst/>
              <a:ahLst/>
              <a:cxnLst/>
              <a:rect r="r" b="b" t="t" l="l"/>
              <a:pathLst>
                <a:path h="203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001524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0104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306300" y="2019300"/>
            <a:ext cx="552450" cy="552450"/>
            <a:chOff x="0" y="0"/>
            <a:chExt cx="736600" cy="736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368300"/>
                  </a:moveTo>
                  <a:cubicBezTo>
                    <a:pt x="0" y="571706"/>
                    <a:pt x="164894" y="736600"/>
                    <a:pt x="368300" y="736600"/>
                  </a:cubicBezTo>
                  <a:cubicBezTo>
                    <a:pt x="571706" y="736600"/>
                    <a:pt x="736600" y="571706"/>
                    <a:pt x="736600" y="368300"/>
                  </a:cubicBezTo>
                  <a:cubicBezTo>
                    <a:pt x="736600" y="164894"/>
                    <a:pt x="571706" y="0"/>
                    <a:pt x="368300" y="0"/>
                  </a:cubicBezTo>
                  <a:cubicBezTo>
                    <a:pt x="164894" y="0"/>
                    <a:pt x="0" y="164894"/>
                    <a:pt x="0" y="368300"/>
                  </a:cubicBez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366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2306300" y="2038350"/>
            <a:ext cx="55245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3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011150" y="2105025"/>
            <a:ext cx="409575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600" b="true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Principales retos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2401550" y="3152775"/>
            <a:ext cx="95250" cy="95250"/>
            <a:chOff x="0" y="0"/>
            <a:chExt cx="127000" cy="127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2630150" y="3057525"/>
            <a:ext cx="4381500" cy="67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2199" b="true">
                <a:solidFill>
                  <a:srgbClr val="183246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Variabilidad en los precios de los productos.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401550" y="3900297"/>
            <a:ext cx="95250" cy="95250"/>
            <a:chOff x="0" y="0"/>
            <a:chExt cx="127000" cy="127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0" y="63500"/>
                  </a:move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ubicBezTo>
                    <a:pt x="28430" y="0"/>
                    <a:pt x="0" y="28430"/>
                    <a:pt x="0" y="63500"/>
                  </a:cubicBez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2630150" y="3805047"/>
            <a:ext cx="4381500" cy="100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3"/>
              </a:lnSpc>
            </a:pPr>
            <a:r>
              <a:rPr lang="en-US" sz="2199" b="true">
                <a:solidFill>
                  <a:srgbClr val="183246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Presión competitiva de maquinaria de menor costo, particularmente de origen chino.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52500" y="7858125"/>
            <a:ext cx="16383000" cy="1809750"/>
            <a:chOff x="0" y="0"/>
            <a:chExt cx="21844000" cy="24130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184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21844000">
                  <a:moveTo>
                    <a:pt x="203200" y="0"/>
                  </a:moveTo>
                  <a:lnTo>
                    <a:pt x="21640800" y="0"/>
                  </a:lnTo>
                  <a:cubicBezTo>
                    <a:pt x="21753024" y="0"/>
                    <a:pt x="21844000" y="90976"/>
                    <a:pt x="21844000" y="203200"/>
                  </a:cubicBezTo>
                  <a:lnTo>
                    <a:pt x="21844000" y="2209800"/>
                  </a:lnTo>
                  <a:cubicBezTo>
                    <a:pt x="21844000" y="2322024"/>
                    <a:pt x="21753024" y="2413000"/>
                    <a:pt x="21640800" y="2413000"/>
                  </a:cubicBezTo>
                  <a:lnTo>
                    <a:pt x="203200" y="2413000"/>
                  </a:lnTo>
                  <a:cubicBezTo>
                    <a:pt x="90976" y="2413000"/>
                    <a:pt x="0" y="2322024"/>
                    <a:pt x="0" y="2209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1524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184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57300" y="8181975"/>
            <a:ext cx="76200" cy="1162050"/>
            <a:chOff x="0" y="0"/>
            <a:chExt cx="101600" cy="15494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1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016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447800" y="8181975"/>
            <a:ext cx="47625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La selección de proveedores considera principalmente el precio y las relaciones de confianza.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6515100" y="8181975"/>
            <a:ext cx="76200" cy="1162050"/>
            <a:chOff x="0" y="0"/>
            <a:chExt cx="101600" cy="1549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1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016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6705600" y="8181975"/>
            <a:ext cx="4762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La atención al cliente ha evolucionado mediante WhatsApp y llamadas telefónicas.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1772900" y="8181975"/>
            <a:ext cx="76200" cy="1162050"/>
            <a:chOff x="0" y="0"/>
            <a:chExt cx="101600" cy="15494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1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549400"/>
                  </a:lnTo>
                  <a:lnTo>
                    <a:pt x="0" y="1549400"/>
                  </a:lnTo>
                  <a:close/>
                </a:path>
              </a:pathLst>
            </a:custGeom>
            <a:solidFill>
              <a:srgbClr val="E4571D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1600" cy="158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11963400" y="8181975"/>
            <a:ext cx="47625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Riesgo de pérdida de margen por fluctuaciones entre el precio de compra y el precio de venta.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181100" y="2019300"/>
            <a:ext cx="552450" cy="552450"/>
            <a:chOff x="0" y="0"/>
            <a:chExt cx="736600" cy="7366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368300"/>
                  </a:moveTo>
                  <a:cubicBezTo>
                    <a:pt x="0" y="571706"/>
                    <a:pt x="164894" y="736600"/>
                    <a:pt x="368300" y="736600"/>
                  </a:cubicBezTo>
                  <a:cubicBezTo>
                    <a:pt x="571706" y="736600"/>
                    <a:pt x="736600" y="571706"/>
                    <a:pt x="736600" y="368300"/>
                  </a:cubicBezTo>
                  <a:cubicBezTo>
                    <a:pt x="736600" y="164894"/>
                    <a:pt x="571706" y="0"/>
                    <a:pt x="368300" y="0"/>
                  </a:cubicBezTo>
                  <a:cubicBezTo>
                    <a:pt x="164894" y="0"/>
                    <a:pt x="0" y="164894"/>
                    <a:pt x="0" y="368300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7366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6743700" y="2019300"/>
            <a:ext cx="552450" cy="552450"/>
            <a:chOff x="0" y="0"/>
            <a:chExt cx="736600" cy="736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368300"/>
                  </a:moveTo>
                  <a:cubicBezTo>
                    <a:pt x="0" y="571706"/>
                    <a:pt x="164894" y="736600"/>
                    <a:pt x="368300" y="736600"/>
                  </a:cubicBezTo>
                  <a:cubicBezTo>
                    <a:pt x="571706" y="736600"/>
                    <a:pt x="736600" y="571706"/>
                    <a:pt x="736600" y="368300"/>
                  </a:cubicBezTo>
                  <a:cubicBezTo>
                    <a:pt x="736600" y="164894"/>
                    <a:pt x="571706" y="0"/>
                    <a:pt x="368300" y="0"/>
                  </a:cubicBezTo>
                  <a:cubicBezTo>
                    <a:pt x="164894" y="0"/>
                    <a:pt x="0" y="164894"/>
                    <a:pt x="0" y="368300"/>
                  </a:cubicBezTo>
                  <a:close/>
                </a:path>
              </a:pathLst>
            </a:custGeom>
            <a:solidFill>
              <a:srgbClr val="003059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7366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306300" y="2019300"/>
            <a:ext cx="552450" cy="552450"/>
            <a:chOff x="0" y="0"/>
            <a:chExt cx="736600" cy="7366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0" y="368300"/>
                  </a:moveTo>
                  <a:cubicBezTo>
                    <a:pt x="0" y="571706"/>
                    <a:pt x="164894" y="736600"/>
                    <a:pt x="368300" y="736600"/>
                  </a:cubicBezTo>
                  <a:cubicBezTo>
                    <a:pt x="571706" y="736600"/>
                    <a:pt x="736600" y="571706"/>
                    <a:pt x="736600" y="368300"/>
                  </a:cubicBezTo>
                  <a:cubicBezTo>
                    <a:pt x="736600" y="164894"/>
                    <a:pt x="571706" y="0"/>
                    <a:pt x="368300" y="0"/>
                  </a:cubicBezTo>
                  <a:cubicBezTo>
                    <a:pt x="164894" y="0"/>
                    <a:pt x="0" y="164894"/>
                    <a:pt x="0" y="368300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7366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000750"/>
            <a:ext cx="5229225" cy="4286250"/>
          </a:xfrm>
          <a:custGeom>
            <a:avLst/>
            <a:gdLst/>
            <a:ahLst/>
            <a:cxnLst/>
            <a:rect r="r" b="b" t="t" l="l"/>
            <a:pathLst>
              <a:path h="4286250" w="5229225">
                <a:moveTo>
                  <a:pt x="0" y="0"/>
                </a:moveTo>
                <a:lnTo>
                  <a:pt x="5229225" y="0"/>
                </a:lnTo>
                <a:lnTo>
                  <a:pt x="522922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96925" y="0"/>
            <a:ext cx="4791075" cy="3000375"/>
          </a:xfrm>
          <a:custGeom>
            <a:avLst/>
            <a:gdLst/>
            <a:ahLst/>
            <a:cxnLst/>
            <a:rect r="r" b="b" t="t" l="l"/>
            <a:pathLst>
              <a:path h="3000375" w="4791075">
                <a:moveTo>
                  <a:pt x="0" y="0"/>
                </a:moveTo>
                <a:lnTo>
                  <a:pt x="4791075" y="0"/>
                </a:lnTo>
                <a:lnTo>
                  <a:pt x="479107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25850" y="0"/>
            <a:ext cx="1962150" cy="857250"/>
          </a:xfrm>
          <a:custGeom>
            <a:avLst/>
            <a:gdLst/>
            <a:ahLst/>
            <a:cxnLst/>
            <a:rect r="r" b="b" t="t" l="l"/>
            <a:pathLst>
              <a:path h="857250" w="1962150">
                <a:moveTo>
                  <a:pt x="0" y="0"/>
                </a:moveTo>
                <a:lnTo>
                  <a:pt x="1962150" y="0"/>
                </a:lnTo>
                <a:lnTo>
                  <a:pt x="1962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25850" y="428625"/>
            <a:ext cx="1752600" cy="1285875"/>
          </a:xfrm>
          <a:custGeom>
            <a:avLst/>
            <a:gdLst/>
            <a:ahLst/>
            <a:cxnLst/>
            <a:rect r="r" b="b" t="t" l="l"/>
            <a:pathLst>
              <a:path h="1285875" w="1752600">
                <a:moveTo>
                  <a:pt x="0" y="0"/>
                </a:moveTo>
                <a:lnTo>
                  <a:pt x="1752600" y="0"/>
                </a:lnTo>
                <a:lnTo>
                  <a:pt x="1752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2960" y="389357"/>
            <a:ext cx="102412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b="true" sz="5000" spc="-155">
                <a:solidFill>
                  <a:srgbClr val="E47707"/>
                </a:solidFill>
                <a:latin typeface="Roboto Bold"/>
                <a:ea typeface="Roboto Bold"/>
                <a:cs typeface="Roboto Bold"/>
                <a:sym typeface="Roboto Bold"/>
              </a:rPr>
              <a:t>7.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4832" y="447914"/>
            <a:ext cx="9253728" cy="928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4"/>
              </a:lnSpc>
            </a:pPr>
            <a:r>
              <a:rPr lang="en-US" sz="6200" spc="-192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Recomendaciones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6775" y="2143125"/>
            <a:ext cx="5448300" cy="4286250"/>
          </a:xfrm>
          <a:custGeom>
            <a:avLst/>
            <a:gdLst/>
            <a:ahLst/>
            <a:cxnLst/>
            <a:rect r="r" b="b" t="t" l="l"/>
            <a:pathLst>
              <a:path h="4286250" w="5448300">
                <a:moveTo>
                  <a:pt x="0" y="0"/>
                </a:moveTo>
                <a:lnTo>
                  <a:pt x="5448300" y="0"/>
                </a:lnTo>
                <a:lnTo>
                  <a:pt x="544830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5850" y="235267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09344" y="2545289"/>
            <a:ext cx="310896" cy="51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7"/>
              </a:lnSpc>
            </a:pPr>
            <a:r>
              <a:rPr lang="en-US" sz="33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04925" y="3429000"/>
            <a:ext cx="3924300" cy="428625"/>
          </a:xfrm>
          <a:custGeom>
            <a:avLst/>
            <a:gdLst/>
            <a:ahLst/>
            <a:cxnLst/>
            <a:rect r="r" b="b" t="t" l="l"/>
            <a:pathLst>
              <a:path h="428625" w="3924300">
                <a:moveTo>
                  <a:pt x="0" y="0"/>
                </a:moveTo>
                <a:lnTo>
                  <a:pt x="3924300" y="0"/>
                </a:lnTo>
                <a:lnTo>
                  <a:pt x="3924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26464" y="3916260"/>
            <a:ext cx="3767328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3059"/>
                </a:solidFill>
                <a:latin typeface="Roboto"/>
                <a:ea typeface="Roboto"/>
                <a:cs typeface="Roboto"/>
                <a:sym typeface="Roboto"/>
              </a:rPr>
              <a:t>Implementar un sistema para controlar existencias, entradas, salidas, precios y proveedores en tiempo real.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000625" y="4714875"/>
            <a:ext cx="1095375" cy="1504950"/>
          </a:xfrm>
          <a:custGeom>
            <a:avLst/>
            <a:gdLst/>
            <a:ahLst/>
            <a:cxnLst/>
            <a:rect r="r" b="b" t="t" l="l"/>
            <a:pathLst>
              <a:path h="1504950" w="1095375">
                <a:moveTo>
                  <a:pt x="0" y="0"/>
                </a:moveTo>
                <a:lnTo>
                  <a:pt x="1095375" y="0"/>
                </a:lnTo>
                <a:lnTo>
                  <a:pt x="1095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6775" y="53530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05550" y="2143125"/>
            <a:ext cx="5457825" cy="4286250"/>
          </a:xfrm>
          <a:custGeom>
            <a:avLst/>
            <a:gdLst/>
            <a:ahLst/>
            <a:cxnLst/>
            <a:rect r="r" b="b" t="t" l="l"/>
            <a:pathLst>
              <a:path h="4286250" w="5457825">
                <a:moveTo>
                  <a:pt x="0" y="0"/>
                </a:moveTo>
                <a:lnTo>
                  <a:pt x="5457825" y="0"/>
                </a:lnTo>
                <a:lnTo>
                  <a:pt x="545782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524625" y="235267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743700" y="3429000"/>
            <a:ext cx="3924300" cy="428625"/>
          </a:xfrm>
          <a:custGeom>
            <a:avLst/>
            <a:gdLst/>
            <a:ahLst/>
            <a:cxnLst/>
            <a:rect r="r" b="b" t="t" l="l"/>
            <a:pathLst>
              <a:path h="428625" w="3924300">
                <a:moveTo>
                  <a:pt x="0" y="0"/>
                </a:moveTo>
                <a:lnTo>
                  <a:pt x="3924300" y="0"/>
                </a:lnTo>
                <a:lnTo>
                  <a:pt x="3924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858000" y="3916260"/>
            <a:ext cx="3767328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3059"/>
                </a:solidFill>
                <a:latin typeface="Roboto"/>
                <a:ea typeface="Roboto"/>
                <a:cs typeface="Roboto"/>
                <a:sym typeface="Roboto"/>
              </a:rPr>
              <a:t>Centralizar clientes, productos, cantidades, precios y seguimiento de cada cotización.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229850" y="4714875"/>
            <a:ext cx="1095375" cy="1285875"/>
          </a:xfrm>
          <a:custGeom>
            <a:avLst/>
            <a:gdLst/>
            <a:ahLst/>
            <a:cxnLst/>
            <a:rect r="r" b="b" t="t" l="l"/>
            <a:pathLst>
              <a:path h="1285875" w="1095375">
                <a:moveTo>
                  <a:pt x="0" y="0"/>
                </a:moveTo>
                <a:lnTo>
                  <a:pt x="1095375" y="0"/>
                </a:lnTo>
                <a:lnTo>
                  <a:pt x="1095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305550" y="5353050"/>
            <a:ext cx="1104900" cy="1076325"/>
          </a:xfrm>
          <a:custGeom>
            <a:avLst/>
            <a:gdLst/>
            <a:ahLst/>
            <a:cxnLst/>
            <a:rect r="r" b="b" t="t" l="l"/>
            <a:pathLst>
              <a:path h="1076325" w="1104900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753850" y="2143125"/>
            <a:ext cx="5448300" cy="4286250"/>
          </a:xfrm>
          <a:custGeom>
            <a:avLst/>
            <a:gdLst/>
            <a:ahLst/>
            <a:cxnLst/>
            <a:rect r="r" b="b" t="t" l="l"/>
            <a:pathLst>
              <a:path h="4286250" w="5448300">
                <a:moveTo>
                  <a:pt x="0" y="0"/>
                </a:moveTo>
                <a:lnTo>
                  <a:pt x="5448300" y="0"/>
                </a:lnTo>
                <a:lnTo>
                  <a:pt x="544830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972925" y="235267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399264" y="2545289"/>
            <a:ext cx="310896" cy="51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7"/>
              </a:lnSpc>
            </a:pPr>
            <a:r>
              <a:rPr lang="en-US" sz="33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192000" y="3429000"/>
            <a:ext cx="3924300" cy="428625"/>
          </a:xfrm>
          <a:custGeom>
            <a:avLst/>
            <a:gdLst/>
            <a:ahLst/>
            <a:cxnLst/>
            <a:rect r="r" b="b" t="t" l="l"/>
            <a:pathLst>
              <a:path h="428625" w="3924300">
                <a:moveTo>
                  <a:pt x="0" y="0"/>
                </a:moveTo>
                <a:lnTo>
                  <a:pt x="3924300" y="0"/>
                </a:lnTo>
                <a:lnTo>
                  <a:pt x="3924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289536" y="3934852"/>
            <a:ext cx="3364992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3059"/>
                </a:solidFill>
                <a:latin typeface="Roboto"/>
                <a:ea typeface="Roboto"/>
                <a:cs typeface="Roboto"/>
                <a:sym typeface="Roboto"/>
              </a:rPr>
              <a:t>Crear un catálogo digital de materiales y maquinaria, utilizando como ejemplo WhatsApp como canal de atención y venta.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887700" y="4714875"/>
            <a:ext cx="1095375" cy="1504950"/>
          </a:xfrm>
          <a:custGeom>
            <a:avLst/>
            <a:gdLst/>
            <a:ahLst/>
            <a:cxnLst/>
            <a:rect r="r" b="b" t="t" l="l"/>
            <a:pathLst>
              <a:path h="1504950" w="1095375">
                <a:moveTo>
                  <a:pt x="0" y="0"/>
                </a:moveTo>
                <a:lnTo>
                  <a:pt x="1095375" y="0"/>
                </a:lnTo>
                <a:lnTo>
                  <a:pt x="1095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753850" y="535305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24000" y="6429375"/>
            <a:ext cx="7067550" cy="3694869"/>
          </a:xfrm>
          <a:custGeom>
            <a:avLst/>
            <a:gdLst/>
            <a:ahLst/>
            <a:cxnLst/>
            <a:rect r="r" b="b" t="t" l="l"/>
            <a:pathLst>
              <a:path h="3694869" w="7067550">
                <a:moveTo>
                  <a:pt x="0" y="0"/>
                </a:moveTo>
                <a:lnTo>
                  <a:pt x="7067550" y="0"/>
                </a:lnTo>
                <a:lnTo>
                  <a:pt x="7067550" y="3694869"/>
                </a:lnTo>
                <a:lnTo>
                  <a:pt x="0" y="369486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4064" t="0" r="-8916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952625" y="663892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201162" y="7715250"/>
            <a:ext cx="3276600" cy="219075"/>
          </a:xfrm>
          <a:custGeom>
            <a:avLst/>
            <a:gdLst/>
            <a:ahLst/>
            <a:cxnLst/>
            <a:rect r="r" b="b" t="t" l="l"/>
            <a:pathLst>
              <a:path h="219075" w="3276600">
                <a:moveTo>
                  <a:pt x="0" y="0"/>
                </a:moveTo>
                <a:lnTo>
                  <a:pt x="3276600" y="0"/>
                </a:lnTo>
                <a:lnTo>
                  <a:pt x="3276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286000" y="7866468"/>
            <a:ext cx="4352544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3059"/>
                </a:solidFill>
                <a:latin typeface="Roboto"/>
                <a:ea typeface="Roboto"/>
                <a:cs typeface="Roboto"/>
                <a:sym typeface="Roboto"/>
              </a:rPr>
              <a:t>Registrar el historial de compras, cotizaciones y frecuencia de compra para fortalecer la relación con clientes recurrentes.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962775" y="7715250"/>
            <a:ext cx="1533525" cy="1504950"/>
          </a:xfrm>
          <a:custGeom>
            <a:avLst/>
            <a:gdLst/>
            <a:ahLst/>
            <a:cxnLst/>
            <a:rect r="r" b="b" t="t" l="l"/>
            <a:pathLst>
              <a:path h="1504950" w="1533525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99401" y="9258300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924925" y="6429375"/>
            <a:ext cx="7191375" cy="3694869"/>
          </a:xfrm>
          <a:custGeom>
            <a:avLst/>
            <a:gdLst/>
            <a:ahLst/>
            <a:cxnLst/>
            <a:rect r="r" b="b" t="t" l="l"/>
            <a:pathLst>
              <a:path h="3694869" w="7191375">
                <a:moveTo>
                  <a:pt x="0" y="0"/>
                </a:moveTo>
                <a:lnTo>
                  <a:pt x="7191375" y="0"/>
                </a:lnTo>
                <a:lnTo>
                  <a:pt x="7191375" y="3694869"/>
                </a:lnTo>
                <a:lnTo>
                  <a:pt x="0" y="369486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3994" t="0" r="-7041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353550" y="6638925"/>
            <a:ext cx="1104900" cy="1076325"/>
          </a:xfrm>
          <a:custGeom>
            <a:avLst/>
            <a:gdLst/>
            <a:ahLst/>
            <a:cxnLst/>
            <a:rect r="r" b="b" t="t" l="l"/>
            <a:pathLst>
              <a:path h="1076325" w="1104900">
                <a:moveTo>
                  <a:pt x="0" y="0"/>
                </a:moveTo>
                <a:lnTo>
                  <a:pt x="1104900" y="0"/>
                </a:lnTo>
                <a:lnTo>
                  <a:pt x="11049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572625" y="7715250"/>
            <a:ext cx="4362450" cy="219075"/>
          </a:xfrm>
          <a:custGeom>
            <a:avLst/>
            <a:gdLst/>
            <a:ahLst/>
            <a:cxnLst/>
            <a:rect r="r" b="b" t="t" l="l"/>
            <a:pathLst>
              <a:path h="219075" w="4362450">
                <a:moveTo>
                  <a:pt x="0" y="0"/>
                </a:moveTo>
                <a:lnTo>
                  <a:pt x="4362450" y="0"/>
                </a:lnTo>
                <a:lnTo>
                  <a:pt x="4362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601200" y="8129736"/>
            <a:ext cx="4425696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3059"/>
                </a:solidFill>
                <a:latin typeface="Roboto"/>
                <a:ea typeface="Roboto"/>
                <a:cs typeface="Roboto"/>
                <a:sym typeface="Roboto"/>
              </a:rPr>
              <a:t>Dar seguimiento a ventas, productos de mayor demanda, inventario y márgenes para apoyar las decisiones de compra y comercialización.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4582775" y="8143875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810625" y="9295218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2432304" y="2559248"/>
            <a:ext cx="288950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Digitalización del inventario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863840" y="2568916"/>
            <a:ext cx="2816352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Gestión digital de cotizaciones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350240" y="2559248"/>
            <a:ext cx="312724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Catálogo y canales digitales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313938" y="6719297"/>
            <a:ext cx="316382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Gestión de clientes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680192" y="6796802"/>
            <a:ext cx="347395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Indicadores para la toma de decisiones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949440" y="2545289"/>
            <a:ext cx="310896" cy="51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7"/>
              </a:lnSpc>
            </a:pPr>
            <a:r>
              <a:rPr lang="en-US" sz="33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377440" y="6773246"/>
            <a:ext cx="310896" cy="51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7"/>
              </a:lnSpc>
            </a:pPr>
            <a:r>
              <a:rPr lang="en-US" sz="33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729216" y="6773246"/>
            <a:ext cx="310896" cy="51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7"/>
              </a:lnSpc>
            </a:pPr>
            <a:r>
              <a:rPr lang="en-US" sz="33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3950" y="457200"/>
            <a:ext cx="1604010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8. Conclusiones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23950" y="1504950"/>
            <a:ext cx="16040100" cy="66675"/>
            <a:chOff x="0" y="0"/>
            <a:chExt cx="213868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386800" cy="88900"/>
            </a:xfrm>
            <a:custGeom>
              <a:avLst/>
              <a:gdLst/>
              <a:ahLst/>
              <a:cxnLst/>
              <a:rect r="r" b="b" t="t" l="l"/>
              <a:pathLst>
                <a:path h="88900" w="21386800">
                  <a:moveTo>
                    <a:pt x="0" y="0"/>
                  </a:moveTo>
                  <a:lnTo>
                    <a:pt x="21386800" y="0"/>
                  </a:lnTo>
                  <a:lnTo>
                    <a:pt x="213868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3868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23950" y="2038350"/>
            <a:ext cx="7858125" cy="3219450"/>
            <a:chOff x="0" y="0"/>
            <a:chExt cx="10477500" cy="4292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77500" cy="4292600"/>
            </a:xfrm>
            <a:custGeom>
              <a:avLst/>
              <a:gdLst/>
              <a:ahLst/>
              <a:cxnLst/>
              <a:rect r="r" b="b" t="t" l="l"/>
              <a:pathLst>
                <a:path h="4292600" w="10477500">
                  <a:moveTo>
                    <a:pt x="101600" y="0"/>
                  </a:moveTo>
                  <a:lnTo>
                    <a:pt x="10375900" y="0"/>
                  </a:lnTo>
                  <a:cubicBezTo>
                    <a:pt x="10432012" y="0"/>
                    <a:pt x="10477500" y="45488"/>
                    <a:pt x="10477500" y="101600"/>
                  </a:cubicBezTo>
                  <a:lnTo>
                    <a:pt x="10477500" y="4191000"/>
                  </a:lnTo>
                  <a:cubicBezTo>
                    <a:pt x="10477500" y="4247112"/>
                    <a:pt x="10432012" y="4292600"/>
                    <a:pt x="10375900" y="4292600"/>
                  </a:cubicBezTo>
                  <a:lnTo>
                    <a:pt x="101600" y="4292600"/>
                  </a:lnTo>
                  <a:cubicBezTo>
                    <a:pt x="45488" y="4292600"/>
                    <a:pt x="0" y="4247112"/>
                    <a:pt x="0" y="41910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477500" cy="433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3950" y="2038350"/>
            <a:ext cx="95250" cy="3219450"/>
            <a:chOff x="0" y="0"/>
            <a:chExt cx="127000" cy="4292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000" cy="4292600"/>
            </a:xfrm>
            <a:custGeom>
              <a:avLst/>
              <a:gdLst/>
              <a:ahLst/>
              <a:cxnLst/>
              <a:rect r="r" b="b" t="t" l="l"/>
              <a:pathLst>
                <a:path h="4292600" w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lnTo>
                    <a:pt x="127000" y="4229100"/>
                  </a:lnTo>
                  <a:cubicBezTo>
                    <a:pt x="127000" y="4264170"/>
                    <a:pt x="98570" y="4292600"/>
                    <a:pt x="63500" y="4292600"/>
                  </a:cubicBezTo>
                  <a:cubicBezTo>
                    <a:pt x="28430" y="4292600"/>
                    <a:pt x="0" y="4264170"/>
                    <a:pt x="0" y="42291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7000" cy="433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47800" y="2209800"/>
            <a:ext cx="28530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E47707"/>
                </a:solidFill>
                <a:latin typeface="Roboto Bold"/>
                <a:ea typeface="Roboto Bold"/>
                <a:cs typeface="Roboto Bold"/>
                <a:sym typeface="Roboto Bold"/>
              </a:rPr>
              <a:t>1.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38350" y="2305050"/>
            <a:ext cx="6619875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Análisis del entorno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7800" y="3009900"/>
            <a:ext cx="7210425" cy="137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El análisis PESTEL permitió identificar factores económicos, tecnológicos, regulatorios y de mercado que influyen directamente en la industria de la construcción y en las operaciones de la empresa.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05925" y="2038350"/>
            <a:ext cx="7858125" cy="3219450"/>
            <a:chOff x="0" y="0"/>
            <a:chExt cx="10477500" cy="4292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77500" cy="4292600"/>
            </a:xfrm>
            <a:custGeom>
              <a:avLst/>
              <a:gdLst/>
              <a:ahLst/>
              <a:cxnLst/>
              <a:rect r="r" b="b" t="t" l="l"/>
              <a:pathLst>
                <a:path h="4292600" w="10477500">
                  <a:moveTo>
                    <a:pt x="101600" y="0"/>
                  </a:moveTo>
                  <a:lnTo>
                    <a:pt x="10375900" y="0"/>
                  </a:lnTo>
                  <a:cubicBezTo>
                    <a:pt x="10432012" y="0"/>
                    <a:pt x="10477500" y="45488"/>
                    <a:pt x="10477500" y="101600"/>
                  </a:cubicBezTo>
                  <a:lnTo>
                    <a:pt x="10477500" y="4191000"/>
                  </a:lnTo>
                  <a:cubicBezTo>
                    <a:pt x="10477500" y="4247112"/>
                    <a:pt x="10432012" y="4292600"/>
                    <a:pt x="10375900" y="4292600"/>
                  </a:cubicBezTo>
                  <a:lnTo>
                    <a:pt x="101600" y="4292600"/>
                  </a:lnTo>
                  <a:cubicBezTo>
                    <a:pt x="45488" y="4292600"/>
                    <a:pt x="0" y="4247112"/>
                    <a:pt x="0" y="41910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77500" cy="433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05925" y="2038350"/>
            <a:ext cx="95250" cy="3219450"/>
            <a:chOff x="0" y="0"/>
            <a:chExt cx="127000" cy="4292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7000" cy="4292600"/>
            </a:xfrm>
            <a:custGeom>
              <a:avLst/>
              <a:gdLst/>
              <a:ahLst/>
              <a:cxnLst/>
              <a:rect r="r" b="b" t="t" l="l"/>
              <a:pathLst>
                <a:path h="4292600" w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lnTo>
                    <a:pt x="127000" y="4229100"/>
                  </a:lnTo>
                  <a:cubicBezTo>
                    <a:pt x="127000" y="4264170"/>
                    <a:pt x="98570" y="4292600"/>
                    <a:pt x="63500" y="4292600"/>
                  </a:cubicBezTo>
                  <a:cubicBezTo>
                    <a:pt x="28430" y="4292600"/>
                    <a:pt x="0" y="4264170"/>
                    <a:pt x="0" y="42291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7000" cy="433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29775" y="2209800"/>
            <a:ext cx="28530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E47707"/>
                </a:solidFill>
                <a:latin typeface="Roboto Bold"/>
                <a:ea typeface="Roboto Bold"/>
                <a:cs typeface="Roboto Bold"/>
                <a:sym typeface="Roboto Bold"/>
              </a:rPr>
              <a:t>2.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20325" y="2305050"/>
            <a:ext cx="6619875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Fortalezas y áreas de oportunidad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29775" y="3009900"/>
            <a:ext cx="7210425" cy="171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El análisis FODA mostró que la experiencia de aproximadamente 10 años y la cartera de clientes recurrentes representan elementos importantes para la operación, mientras que la gestión manual de inventarios, ventas y cotizaciones constituye un área de oportunidad.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23950" y="5524500"/>
            <a:ext cx="7858125" cy="3219450"/>
            <a:chOff x="0" y="0"/>
            <a:chExt cx="10477500" cy="4292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77500" cy="4292600"/>
            </a:xfrm>
            <a:custGeom>
              <a:avLst/>
              <a:gdLst/>
              <a:ahLst/>
              <a:cxnLst/>
              <a:rect r="r" b="b" t="t" l="l"/>
              <a:pathLst>
                <a:path h="4292600" w="10477500">
                  <a:moveTo>
                    <a:pt x="101600" y="0"/>
                  </a:moveTo>
                  <a:lnTo>
                    <a:pt x="10375900" y="0"/>
                  </a:lnTo>
                  <a:cubicBezTo>
                    <a:pt x="10432012" y="0"/>
                    <a:pt x="10477500" y="45488"/>
                    <a:pt x="10477500" y="101600"/>
                  </a:cubicBezTo>
                  <a:lnTo>
                    <a:pt x="10477500" y="4191000"/>
                  </a:lnTo>
                  <a:cubicBezTo>
                    <a:pt x="10477500" y="4247112"/>
                    <a:pt x="10432012" y="4292600"/>
                    <a:pt x="10375900" y="4292600"/>
                  </a:cubicBezTo>
                  <a:lnTo>
                    <a:pt x="101600" y="4292600"/>
                  </a:lnTo>
                  <a:cubicBezTo>
                    <a:pt x="45488" y="4292600"/>
                    <a:pt x="0" y="4247112"/>
                    <a:pt x="0" y="41910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477500" cy="433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23950" y="5524500"/>
            <a:ext cx="95250" cy="3219450"/>
            <a:chOff x="0" y="0"/>
            <a:chExt cx="127000" cy="4292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7000" cy="4292600"/>
            </a:xfrm>
            <a:custGeom>
              <a:avLst/>
              <a:gdLst/>
              <a:ahLst/>
              <a:cxnLst/>
              <a:rect r="r" b="b" t="t" l="l"/>
              <a:pathLst>
                <a:path h="4292600" w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lnTo>
                    <a:pt x="127000" y="4229100"/>
                  </a:lnTo>
                  <a:cubicBezTo>
                    <a:pt x="127000" y="4264170"/>
                    <a:pt x="98570" y="4292600"/>
                    <a:pt x="63500" y="4292600"/>
                  </a:cubicBezTo>
                  <a:cubicBezTo>
                    <a:pt x="28430" y="4292600"/>
                    <a:pt x="0" y="4264170"/>
                    <a:pt x="0" y="42291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7000" cy="433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47800" y="5695950"/>
            <a:ext cx="28530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E47707"/>
                </a:solidFill>
                <a:latin typeface="Roboto Bold"/>
                <a:ea typeface="Roboto Bold"/>
                <a:cs typeface="Roboto Bold"/>
                <a:sym typeface="Roboto Bold"/>
              </a:rPr>
              <a:t>3.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38350" y="5791200"/>
            <a:ext cx="6619875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Diagnóstico estratégico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7800" y="6496050"/>
            <a:ext cx="7210425" cy="137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La empresa toma decisiones principalmente con base en la experiencia y el comportamiento del mercado, pero no cuenta con una estrategia industrial formalmente establecida.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05925" y="5524500"/>
            <a:ext cx="7858125" cy="3219450"/>
            <a:chOff x="0" y="0"/>
            <a:chExt cx="10477500" cy="4292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77500" cy="4292600"/>
            </a:xfrm>
            <a:custGeom>
              <a:avLst/>
              <a:gdLst/>
              <a:ahLst/>
              <a:cxnLst/>
              <a:rect r="r" b="b" t="t" l="l"/>
              <a:pathLst>
                <a:path h="4292600" w="10477500">
                  <a:moveTo>
                    <a:pt x="101600" y="0"/>
                  </a:moveTo>
                  <a:lnTo>
                    <a:pt x="10375900" y="0"/>
                  </a:lnTo>
                  <a:cubicBezTo>
                    <a:pt x="10432012" y="0"/>
                    <a:pt x="10477500" y="45488"/>
                    <a:pt x="10477500" y="101600"/>
                  </a:cubicBezTo>
                  <a:lnTo>
                    <a:pt x="10477500" y="4191000"/>
                  </a:lnTo>
                  <a:cubicBezTo>
                    <a:pt x="10477500" y="4247112"/>
                    <a:pt x="10432012" y="4292600"/>
                    <a:pt x="10375900" y="4292600"/>
                  </a:cubicBezTo>
                  <a:lnTo>
                    <a:pt x="101600" y="4292600"/>
                  </a:lnTo>
                  <a:cubicBezTo>
                    <a:pt x="45488" y="4292600"/>
                    <a:pt x="0" y="4247112"/>
                    <a:pt x="0" y="41910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8D3DC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477500" cy="433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05925" y="5524500"/>
            <a:ext cx="95250" cy="3219450"/>
            <a:chOff x="0" y="0"/>
            <a:chExt cx="127000" cy="4292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7000" cy="4292600"/>
            </a:xfrm>
            <a:custGeom>
              <a:avLst/>
              <a:gdLst/>
              <a:ahLst/>
              <a:cxnLst/>
              <a:rect r="r" b="b" t="t" l="l"/>
              <a:pathLst>
                <a:path h="4292600" w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lnTo>
                    <a:pt x="127000" y="4229100"/>
                  </a:lnTo>
                  <a:cubicBezTo>
                    <a:pt x="127000" y="4264170"/>
                    <a:pt x="98570" y="4292600"/>
                    <a:pt x="63500" y="4292600"/>
                  </a:cubicBezTo>
                  <a:cubicBezTo>
                    <a:pt x="28430" y="4292600"/>
                    <a:pt x="0" y="4264170"/>
                    <a:pt x="0" y="42291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E4770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27000" cy="433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629775" y="5695950"/>
            <a:ext cx="28530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E47707"/>
                </a:solidFill>
                <a:latin typeface="Roboto Bold"/>
                <a:ea typeface="Roboto Bold"/>
                <a:cs typeface="Roboto Bold"/>
                <a:sym typeface="Roboto Bold"/>
              </a:rPr>
              <a:t>4.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20325" y="5791200"/>
            <a:ext cx="6619875" cy="42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3059"/>
                </a:solidFill>
                <a:latin typeface="Roboto Bold"/>
                <a:ea typeface="Roboto Bold"/>
                <a:cs typeface="Roboto Bold"/>
                <a:sym typeface="Roboto Bold"/>
              </a:rPr>
              <a:t>Propuestas de mejora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29775" y="6496050"/>
            <a:ext cx="7210425" cy="137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17212B"/>
                </a:solidFill>
                <a:latin typeface="Roboto"/>
                <a:ea typeface="Roboto"/>
                <a:cs typeface="Roboto"/>
                <a:sym typeface="Roboto"/>
              </a:rPr>
              <a:t>Se proponen acciones de digitalización, gestión de clientes, control de inventarios e implementación de indicadores para fortalecer la toma de decisiones y mejorar la eficiencia operativa.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DAHV8x22OD4</dc:identifier>
  <dcterms:modified xsi:type="dcterms:W3CDTF">2011-08-01T06:04:30Z</dcterms:modified>
  <cp:revision>1</cp:revision>
  <dc:title>Orange White and Blue Illustrated Construction Presentation</dc:title>
</cp:coreProperties>
</file>